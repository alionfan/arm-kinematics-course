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447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高中 · 机器人运动学入门课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90700"/>
            <a:ext cx="66675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机械臂运动学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860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CFE0F5"/>
                </a:solidFill>
                <a:latin typeface="Times New Roman"/>
                <a:ea typeface="Times New Roman"/>
                <a:cs typeface="Times New Roman"/>
              </a:rPr>
              <a:t>Robotic Arm Kinematics with Trigonometry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276600"/>
            <a:ext cx="9144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35242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一门课只讲一件事：机械臂的运动学，本质上就是三角函数。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33850"/>
            <a:ext cx="60960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适用对象：高中（有三角函数基础 · 会一点 Python）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课时安排：5 课时（M1 两课时 · M2 一课时 · M3 两课时）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配套机型：UR5（主力）· 宇树 R1（对照）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版　　本：v1.0 · 2026 秋季学期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39000" y="5143500"/>
            <a:ext cx="4572000" cy="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620000" y="1714500"/>
            <a:ext cx="0" cy="342900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20000" y="2952750"/>
            <a:ext cx="3238500" cy="219075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24750" y="5048250"/>
            <a:ext cx="190500" cy="190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44200" y="2838450"/>
            <a:ext cx="228600" cy="228600"/>
          </a:xfrm>
          <a:prstGeom prst="ellipse">
            <a:avLst/>
          </a:prstGeom>
          <a:solidFill>
            <a:srgbClr val="1E4FA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124786" y="4801734"/>
            <a:ext cx="104814" cy="341766"/>
          </a:xfrm>
          <a:custGeom>
            <a:avLst/>
            <a:gdLst/>
            <a:ahLst/>
            <a:cxnLst/>
            <a:rect l="l" t="t" r="r" b="b"/>
            <a:pathLst>
              <a:path w="104814" h="341766">
                <a:moveTo>
                  <a:pt x="104814" y="341766"/>
                </a:moveTo>
                <a:lnTo>
                  <a:pt x="104392" y="319096"/>
                </a:lnTo>
                <a:lnTo>
                  <a:pt x="103128" y="296457"/>
                </a:lnTo>
                <a:lnTo>
                  <a:pt x="101022" y="273881"/>
                </a:lnTo>
                <a:lnTo>
                  <a:pt x="98079" y="251398"/>
                </a:lnTo>
                <a:lnTo>
                  <a:pt x="94301" y="229041"/>
                </a:lnTo>
                <a:lnTo>
                  <a:pt x="89694" y="206840"/>
                </a:lnTo>
                <a:lnTo>
                  <a:pt x="84266" y="184825"/>
                </a:lnTo>
                <a:lnTo>
                  <a:pt x="78022" y="163028"/>
                </a:lnTo>
                <a:lnTo>
                  <a:pt x="70971" y="141477"/>
                </a:lnTo>
                <a:lnTo>
                  <a:pt x="63125" y="120204"/>
                </a:lnTo>
                <a:lnTo>
                  <a:pt x="54492" y="99238"/>
                </a:lnTo>
                <a:lnTo>
                  <a:pt x="45086" y="78606"/>
                </a:lnTo>
                <a:lnTo>
                  <a:pt x="34919" y="58339"/>
                </a:lnTo>
                <a:lnTo>
                  <a:pt x="24005" y="38465"/>
                </a:lnTo>
                <a:lnTo>
                  <a:pt x="12360" y="19009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CF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4781550"/>
            <a:ext cx="38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CFE0F5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3950" y="3676650"/>
            <a:ext cx="38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0" y="2781300"/>
            <a:ext cx="1238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末端 (x, 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4300" y="5257800"/>
            <a:ext cx="95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底座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本讲内容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机械臂运动学 · 前三讲（高中版）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3352800" cy="5257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10490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CFE0F5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428750"/>
            <a:ext cx="28575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三章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五课时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" y="2590800"/>
            <a:ext cx="685800" cy="28575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2857500"/>
            <a:ext cx="28575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每一章只回答一个驱动问题。</a:t>
            </a:r>
          </a:p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先建立直觉，再推公式，最后写代码验证。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524500"/>
            <a:ext cx="285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机械臂运动学 · 前三讲（高中版）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2400" y="838200"/>
            <a:ext cx="7848600" cy="1647825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6700" y="838200"/>
            <a:ext cx="800100" cy="1647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150" y="1314450"/>
            <a:ext cx="9525" cy="6858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2192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机械臂怎么“知道”手在哪？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676400"/>
            <a:ext cx="4953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正/逆运动学 · 关节空间与笛卡尔空间 · UR5 与宇树 R1 实物对照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0" y="838200"/>
            <a:ext cx="952500" cy="1647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P3–P7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2400" y="2638425"/>
            <a:ext cx="7848600" cy="1647825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76700" y="2638425"/>
            <a:ext cx="800100" cy="1647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150" y="3114675"/>
            <a:ext cx="9525" cy="6858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019425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单位圆与“角度坐标”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476625"/>
            <a:ext cx="4953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sin/cos 就是坐标 · 弧度制 · 反解角度为什么必须用 atan2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0" y="2638425"/>
            <a:ext cx="952500" cy="1647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P8–P12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2400" y="4438650"/>
            <a:ext cx="7848600" cy="1647825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6700" y="4438650"/>
            <a:ext cx="800100" cy="1647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150" y="4914900"/>
            <a:ext cx="9525" cy="6858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481965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平面正运动学：1R → 2R → 3R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5276850"/>
            <a:ext cx="4953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角度累加 · 向量相加 · 可达空间为什么是一个圆环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68000" y="4438650"/>
            <a:ext cx="952500" cy="16478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P13–P20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52500"/>
            <a:ext cx="12192000" cy="2209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20000" b="1">
                <a:solidFill>
                  <a:srgbClr val="E8EFF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3375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机械臂怎么“知道”手在哪？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95950" y="4152900"/>
            <a:ext cx="8001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1175" y="4495800"/>
            <a:ext cx="3143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1175" y="4495800"/>
            <a:ext cx="3143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正运动学 FK · 逆运动学 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5875" y="4495800"/>
            <a:ext cx="2762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5875" y="4495800"/>
            <a:ext cx="2762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关节空间 · 笛卡尔空间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9575" y="4495800"/>
            <a:ext cx="2381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9575" y="4495800"/>
            <a:ext cx="238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两台真实机械臂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3400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1 章　对应页码 P3 – P7　｜　2 课时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一台只有关节的机器，凭什么知道自己的手在哪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M1 · 驱动问题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1 章 · M1　机械臂怎么“知道”手在哪？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3543300" cy="5257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1104900"/>
            <a:ext cx="3048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驱动问题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447800"/>
            <a:ext cx="3048000" cy="2000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机械臂只有几个“会转的关节”，它怎么知道自己的手在空间的什么地方？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4857750"/>
            <a:ext cx="3048000" cy="1047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5010150"/>
            <a:ext cx="274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它没有眼睛。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唯一能读到的数字，是每个关节当前的角度。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2900" y="838200"/>
            <a:ext cx="7658100" cy="19050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1500" y="1276350"/>
            <a:ext cx="1028700" cy="10287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0" y="1276350"/>
            <a:ext cx="1028700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9750" y="13335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已知角度 → 求位置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750" y="1809750"/>
            <a:ext cx="5905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六个关节角都读出来了，末端现在落在哪？这叫正运动学 FK。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2900" y="2857500"/>
            <a:ext cx="7658100" cy="19050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1500" y="3295650"/>
            <a:ext cx="1028700" cy="10287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1500" y="3295650"/>
            <a:ext cx="1028700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9750" y="3352800"/>
            <a:ext cx="590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5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已知位置 → 求角度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9750" y="3829050"/>
            <a:ext cx="5905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想让手精准到达某个点，每个关节该转多少度？这叫逆运动学 IK。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2900" y="4914900"/>
            <a:ext cx="7658100" cy="11811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0" y="4914900"/>
            <a:ext cx="7200900" cy="1181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这两个方向相反的问题，恰好是一道纯粹的</a:t>
            </a: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三角几何题</a:t>
            </a:r>
            <a:r>
              <a:rPr sz="1800" b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 —— 本课程的全部内容都围绕这句话展开。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关节空间 ↔ 笛卡尔空间：一次双向翻译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M1 · 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1 章 · M1　机械臂怎么“知道”手在哪？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6496050" cy="5257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850" y="1409700"/>
            <a:ext cx="2362200" cy="1524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 w="254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850" y="1562100"/>
            <a:ext cx="23622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关节空间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1981200"/>
            <a:ext cx="2362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(θ₁, θ₂, …, θ₆)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36220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电机的“命令”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1409700"/>
            <a:ext cx="2362200" cy="1524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 w="254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200" y="1562100"/>
            <a:ext cx="23622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笛卡尔空间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0" y="1981200"/>
            <a:ext cx="2362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(x, y, 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200" y="236220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我们的“目标”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62300" y="1905000"/>
            <a:ext cx="1009650" cy="0"/>
          </a:xfrm>
          <a:prstGeom prst="line">
            <a:avLst/>
          </a:prstGeom>
          <a:ln w="381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3981450" y="1828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1E4FA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8500" y="1504950"/>
            <a:ext cx="857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FK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162300" y="2400300"/>
            <a:ext cx="1009650" cy="0"/>
          </a:xfrm>
          <a:prstGeom prst="line">
            <a:avLst/>
          </a:prstGeom>
          <a:ln w="381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3162300" y="2324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8500" y="2495550"/>
            <a:ext cx="857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2000" y="3486150"/>
            <a:ext cx="5734050" cy="0"/>
          </a:xfrm>
          <a:prstGeom prst="line">
            <a:avLst/>
          </a:prstGeom>
          <a:ln w="25400">
            <a:solidFill>
              <a:srgbClr val="E8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2000" y="3600450"/>
            <a:ext cx="57340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两个空间之间，只有这一次双向翻译 —— 它就是运动学的全部内容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4114800"/>
            <a:ext cx="2571750" cy="5715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114800"/>
            <a:ext cx="25717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FK：一定有唯一答案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24300" y="4114800"/>
            <a:ext cx="2571750" cy="5715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4300" y="4114800"/>
            <a:ext cx="257175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IK：可能多解 / 可能无解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838700"/>
            <a:ext cx="57340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FK 好算，IK 难算 —— 原因下一栏讲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5650" y="838200"/>
            <a:ext cx="4705350" cy="25146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0477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谁在用哪个空间？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504950"/>
            <a:ext cx="42862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电机与伺服驱动器只听得懂角度；而我们人只会说“把手放到桌子上面”。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运动学就是这两种语言之间的翻译官。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5650" y="3467100"/>
            <a:ext cx="4705350" cy="26289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69570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为什么 FK 好算、IK 难算？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191000"/>
            <a:ext cx="428625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  <a:spcAft>
                <a:spcPts val="80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FK 是“顺着走”：角度唯一决定位置。</a:t>
            </a:r>
          </a:p>
          <a:p>
            <a:pPr algn="l">
              <a:lnSpc>
                <a:spcPct val="165000"/>
              </a:lnSpc>
              <a:spcAft>
                <a:spcPts val="80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IK 是“倒着找”：同一个位置常常有好几组关节角都到得了。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两台真实机械臂：一台“乖”、一台“多一只手”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M1 · 实物对照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1 章 · M1　机械臂怎么“知道”手在哪？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11430000" cy="4191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838200"/>
            <a:ext cx="110871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先看数据：两台机器的规格差异，直接决定了后面公式的难度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000" y="1371600"/>
          <a:ext cx="114300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UR5（主力机型）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宇树 R1 机械臂（对照机型）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出身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丹麦 Universal Robots · 经典工业协作臂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杭州宇树科技 · 人形机器人 R1 的机械臂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自由度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 / 自重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kg / 18.4 kg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kg / 5.5 kg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名义工作半径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850 mm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650 mm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重复定位精度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±0.1 mm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关节轴排布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个关节全部绕自身 z 轴（z z z z z z）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混合（-z x y x y -x -z）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末端参考系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tool0（法兰中心）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Link7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1000" y="4686300"/>
            <a:ext cx="5648325" cy="14097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4857750"/>
            <a:ext cx="52292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判断：自由度多一个 ≠ 更强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5219700"/>
            <a:ext cx="5229225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多出来的那 1 个自由度，换来的是“同一个目标有多种姿势可选”，代价是解空间更难算。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2675" y="4686300"/>
            <a:ext cx="5648325" cy="14097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225" y="4857750"/>
            <a:ext cx="5229225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反直觉伏笔（M10 揭开）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5219700"/>
            <a:ext cx="5229225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实测：UR5 最后三轴并</a:t>
            </a:r>
            <a:r>
              <a:rPr sz="1500" b="1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交于一点（轴 4 与轴 6 平行，相距 94.65 mm）；R1 反而近似交于一点（偏差 5.0 mm）。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用数字说话：零位在哪，能伸多远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M1 · 实测数据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1 章 · M1　机械臂怎么“知道”手在哪？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7067550" cy="5257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066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末端可达半径（同一根数轴，同一比例）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4476750"/>
            <a:ext cx="5715000" cy="0"/>
          </a:xfrm>
          <a:prstGeom prst="line">
            <a:avLst/>
          </a:prstGeom>
          <a:ln w="254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3000" y="4476750"/>
            <a:ext cx="0" cy="9525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7250" y="4591050"/>
            <a:ext cx="571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1700" y="4476750"/>
            <a:ext cx="0" cy="9525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85950" y="4591050"/>
            <a:ext cx="571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476750"/>
            <a:ext cx="0" cy="9525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14650" y="4591050"/>
            <a:ext cx="571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29100" y="4476750"/>
            <a:ext cx="0" cy="9525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43350" y="4591050"/>
            <a:ext cx="571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57800" y="4476750"/>
            <a:ext cx="0" cy="9525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72050" y="4591050"/>
            <a:ext cx="571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86500" y="4476750"/>
            <a:ext cx="0" cy="9525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00750" y="4591050"/>
            <a:ext cx="571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381500"/>
            <a:ext cx="28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8166" y="262890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UR5　　0.036 – 1.028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8166" y="2914650"/>
            <a:ext cx="5102352" cy="419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9866" y="352425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宇树 R1　　0.013 – 0.542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9866" y="3810000"/>
            <a:ext cx="2720912" cy="4191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52197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R1 的整段可达范围，全部落在 UR5 的范围之内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7150" y="838200"/>
            <a:ext cx="4133850" cy="2209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6700" y="1047750"/>
            <a:ext cx="3714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零位末端位置（全部关节角 = 0）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6700" y="1485900"/>
            <a:ext cx="37147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UR5：(0.817, 0.191, −0.005) m，距底座 0.839 m</a:t>
            </a: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宇树 R1：(0.003, −0.034, 0.193) m，距底座 0.196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6700" y="2590800"/>
            <a:ext cx="3714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数据来源：两台机器官方 URDF 模型，由 armblocks 直接实测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77150" y="3162300"/>
            <a:ext cx="4133850" cy="29337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6700" y="3390900"/>
            <a:ext cx="3714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判断：臂展是选型的第一硬约束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6700" y="3848100"/>
            <a:ext cx="371475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100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R1 的整段可达范围都被 UR5 包在里面；UR5 能伸到接近 1 米，R1 只能到 0.54 米。</a:t>
            </a:r>
          </a:p>
          <a:p>
            <a:pPr algn="l">
              <a:lnSpc>
                <a:spcPct val="175000"/>
              </a:lnSpc>
              <a:spcAft>
                <a:spcPts val="100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所以“哪个更好”这个问题本身没意义 —— 先看你要够多远。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52500"/>
            <a:ext cx="12192000" cy="2209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20000" b="1">
                <a:solidFill>
                  <a:srgbClr val="E8EFF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3375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单位圆与“角度坐标”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95950" y="4152900"/>
            <a:ext cx="8001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33675" y="4495800"/>
            <a:ext cx="2381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33675" y="4495800"/>
            <a:ext cx="238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sin / cos 就是坐标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6375" y="4495800"/>
            <a:ext cx="2000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6375" y="4495800"/>
            <a:ext cx="2000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弧度制与换算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8075" y="4495800"/>
            <a:ext cx="2000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8075" y="4495800"/>
            <a:ext cx="2000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atan2 与象限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3400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2 章　对应页码 P8 – P12　｜　1 课时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转一圈，末端画出什么？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M2 · 驱动问题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2 章 · M2　单位圆与“角度坐标”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3543300" cy="5257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1104900"/>
            <a:ext cx="3048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驱动问题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447800"/>
            <a:ext cx="3048000" cy="2000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只知道“一根连杆多长、转了多少度”，怎么算出它末端的坐标？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4857750"/>
            <a:ext cx="3048000" cy="104775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5010150"/>
            <a:ext cx="2743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要把它变成一行代码：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polar_to_xy(L, theta)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2900" y="838200"/>
            <a:ext cx="7658100" cy="4000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4350" y="838200"/>
            <a:ext cx="73152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先猜再验：长 0.3 m 的连杆，你猜它末端在哪？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52900" y="1352550"/>
          <a:ext cx="7658100" cy="2247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7850"/>
                <a:gridCol w="1447800"/>
                <a:gridCol w="1447800"/>
                <a:gridCol w="1447800"/>
                <a:gridCol w="1466850"/>
              </a:tblGrid>
              <a:tr h="533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转过的角度 θ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0°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90°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180°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270°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我猜末端的 (x, y)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跑完代码后的真值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 / 差异原因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52900" y="3714750"/>
            <a:ext cx="7658100" cy="23812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2450" y="3943350"/>
            <a:ext cx="723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判断：轨迹是“圆”不是巧合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2450" y="4400550"/>
            <a:ext cx="7239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7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圆的方程本身就是 sin / cos —— 记住这句话，它就是整门课的世界观起点。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单位圆上，sin 和 cos 就是坐标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M2 · 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2 章 · M2　单位圆与“角度坐标”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6496050" cy="5257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43050" y="3257550"/>
            <a:ext cx="4095750" cy="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43300" y="1400175"/>
            <a:ext cx="0" cy="3857625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71675" y="1685925"/>
            <a:ext cx="3143250" cy="3143250"/>
          </a:xfrm>
          <a:prstGeom prst="ellipse">
            <a:avLst/>
          </a:prstGeom>
          <a:noFill/>
          <a:ln w="3175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543300" y="2356103"/>
            <a:ext cx="1287400" cy="0"/>
          </a:xfrm>
          <a:prstGeom prst="line">
            <a:avLst/>
          </a:prstGeom>
          <a:ln w="25400">
            <a:solidFill>
              <a:srgbClr val="CFE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30700" y="2356103"/>
            <a:ext cx="0" cy="901447"/>
          </a:xfrm>
          <a:prstGeom prst="line">
            <a:avLst/>
          </a:prstGeom>
          <a:ln w="25400">
            <a:solidFill>
              <a:srgbClr val="CFE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543300" y="2356103"/>
            <a:ext cx="1287400" cy="901447"/>
          </a:xfrm>
          <a:prstGeom prst="line">
            <a:avLst/>
          </a:prstGeom>
          <a:ln w="444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3995841" y="2940678"/>
            <a:ext cx="99909" cy="316872"/>
          </a:xfrm>
          <a:custGeom>
            <a:avLst/>
            <a:gdLst/>
            <a:ahLst/>
            <a:cxnLst/>
            <a:rect l="l" t="t" r="r" b="b"/>
            <a:pathLst>
              <a:path w="99909" h="316872">
                <a:moveTo>
                  <a:pt x="99909" y="316872"/>
                </a:moveTo>
                <a:lnTo>
                  <a:pt x="99506" y="295785"/>
                </a:lnTo>
                <a:lnTo>
                  <a:pt x="98299" y="274729"/>
                </a:lnTo>
                <a:lnTo>
                  <a:pt x="96289" y="253734"/>
                </a:lnTo>
                <a:lnTo>
                  <a:pt x="93479" y="232831"/>
                </a:lnTo>
                <a:lnTo>
                  <a:pt x="89874" y="212051"/>
                </a:lnTo>
                <a:lnTo>
                  <a:pt x="85477" y="191424"/>
                </a:lnTo>
                <a:lnTo>
                  <a:pt x="80297" y="170979"/>
                </a:lnTo>
                <a:lnTo>
                  <a:pt x="74340" y="150747"/>
                </a:lnTo>
                <a:lnTo>
                  <a:pt x="67615" y="130757"/>
                </a:lnTo>
                <a:lnTo>
                  <a:pt x="60132" y="111039"/>
                </a:lnTo>
                <a:lnTo>
                  <a:pt x="51902" y="91620"/>
                </a:lnTo>
                <a:lnTo>
                  <a:pt x="42936" y="72530"/>
                </a:lnTo>
                <a:lnTo>
                  <a:pt x="33249" y="53795"/>
                </a:lnTo>
                <a:lnTo>
                  <a:pt x="22853" y="35445"/>
                </a:lnTo>
                <a:lnTo>
                  <a:pt x="11765" y="17504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5675" y="3209925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500" y="2279903"/>
            <a:ext cx="152400" cy="1524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4050" y="2184653"/>
            <a:ext cx="285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(cos θ, sin 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2850" y="2584703"/>
            <a:ext cx="14287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cos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5000" y="2794253"/>
            <a:ext cx="1143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sin 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2900" y="2946653"/>
            <a:ext cx="381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1675" y="3409950"/>
            <a:ext cx="1143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半径 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9225" y="3124200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7100" y="1362075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619750"/>
            <a:ext cx="61150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从 x 轴正方向逆时针转过 θ，落点就是 (cos θ, sin θ)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5650" y="838200"/>
            <a:ext cx="4705350" cy="1524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99060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横向 = cos θ，纵向 = sin 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390650"/>
            <a:ext cx="42862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sin / cos 不是“先有三角形再算边长”，而是</a:t>
            </a:r>
            <a:r>
              <a:rPr sz="1600" b="1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直接给出了一个点的位置</a:t>
            </a: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05650" y="2476500"/>
            <a:ext cx="4705350" cy="17716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647950"/>
            <a:ext cx="4286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把半径从 1 放大到 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009900"/>
            <a:ext cx="4286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两个坐标同乘 L，就得到连杆末端：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352800"/>
            <a:ext cx="42862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2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x = L · cos θ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2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y = L · sin 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5650" y="4362450"/>
            <a:ext cx="4705350" cy="17335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629150"/>
            <a:ext cx="42862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 决定“能伸多远”，θ 决定“伸向哪边”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391150"/>
            <a:ext cx="4286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这就是极坐标 (L, θ) 与直角坐标 (x, y) 之间的翻译。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弧度制：数学里的“天然单位”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M2 · 单位换错，全盘皆错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2 章 · M2　单位圆与“角度坐标”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11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4305300" cy="4000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838200"/>
            <a:ext cx="39624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角度制 ↔ 弧度制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000" y="1352550"/>
          <a:ext cx="4305300" cy="2495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2650"/>
                <a:gridCol w="2152650"/>
              </a:tblGrid>
              <a:tr h="495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角度制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弧度制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一整圈 · 360°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1E4FA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2π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50482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平角 · 180°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1E4FA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π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50482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直角 · 90°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1E4FA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π / 2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本讲常用 · 30°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1E4FA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π / 6 ≈ 0.5236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1000" y="3962400"/>
            <a:ext cx="4305300" cy="21336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4133850"/>
            <a:ext cx="3886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换算口诀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476750"/>
            <a:ext cx="38862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弧度 = 角度 × π ÷ 180</a:t>
            </a:r>
          </a:p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角度 = 弧度 × 180 ÷ 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4900" y="838200"/>
            <a:ext cx="6896100" cy="14097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4900" y="990600"/>
            <a:ext cx="68961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写代码时的标准动作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900" y="1447800"/>
            <a:ext cx="68961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θ_rad = θ_deg × π / 180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14900" y="2381250"/>
            <a:ext cx="6896100" cy="2057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450" y="2571750"/>
            <a:ext cx="64770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为什么非要用弧度？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450" y="2990850"/>
            <a:ext cx="64770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因为只有弧度制下才有“弧长 = 半径 × 角度”这么干净的关系。角度制下要多带一个 π/180 的尾巴，所有公式都会变脏。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4900" y="4552950"/>
            <a:ext cx="6896100" cy="15430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4450" y="4743450"/>
            <a:ext cx="64770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判断：Python 只吃弧度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4450" y="5143500"/>
            <a:ext cx="6477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math.sin / numpy.cos 接收的都是弧度。写代码前先换算：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np.radians(30) → 0.5236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已知坐标求角度：为什么不能用 arctan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M2 · 唯一的坑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2 章 · M2　单位圆与“角度坐标”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11430000" cy="4000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838200"/>
            <a:ext cx="110871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反解要做两步：长度用勾股定理，角度必须用 atan2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000" y="1352550"/>
          <a:ext cx="11430000" cy="186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953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 / x 的比值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arctan(y/x) 给出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真实角度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(1, 1)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45°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1E4FA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45°　正确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(−1, −1)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D9534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45°　错误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D9534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225°（或 −135°）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1000" y="3333750"/>
            <a:ext cx="3810000" cy="27622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3619500"/>
            <a:ext cx="3810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正确的两步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095750"/>
            <a:ext cx="3810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L = √(x² + y²)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4705350"/>
            <a:ext cx="3810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θ = atan2(y, 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546735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L 用勾股定理，θ 用 atan2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4350" y="3333750"/>
            <a:ext cx="7486650" cy="27622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2950" y="3543300"/>
            <a:ext cx="70294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判断：为什么 atan2 不会错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950" y="3981450"/>
            <a:ext cx="702945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arctan 只看 y/x 的比值，比值一样就分不清象限。(1,1) 和 (−1,−1) 的比值都是 1，它只能都返回 45°。</a:t>
            </a: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atan2(y, x) 同时看 x 和 y 各自的符号，能自动分辨四个象限，返回值范围 (−π, π]。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2950" y="5695950"/>
            <a:ext cx="70294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凡是“已知坐标求角度”，一律用 atan2。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52500"/>
            <a:ext cx="12192000" cy="2209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20000" b="1">
                <a:solidFill>
                  <a:srgbClr val="E8EFF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33750"/>
            <a:ext cx="12192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6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平面正运动学：1R → 2R → 3R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95950" y="4152900"/>
            <a:ext cx="8001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43175" y="4495800"/>
            <a:ext cx="266700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3175" y="4495800"/>
            <a:ext cx="2667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角度累加 θ₁ + θ₂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81625" y="4495800"/>
            <a:ext cx="171450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81625" y="4495800"/>
            <a:ext cx="1714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向量相加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7575" y="4495800"/>
            <a:ext cx="2381250" cy="457200"/>
          </a:xfrm>
          <a:prstGeom prst="roundRect">
            <a:avLst>
              <a:gd name="adj" fmla="val 18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4495800"/>
            <a:ext cx="23812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可达空间是圆环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3400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　对应页码 P13 – P20　｜　2 课时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第二根连杆的角度，是相对谁的？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M3 · 驱动问题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 · M3　平面正运动学：1R → 2R → 3R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4762500" cy="5257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62000" y="4381500"/>
            <a:ext cx="4191000" cy="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43000" y="1219200"/>
            <a:ext cx="0" cy="363855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43000" y="3524250"/>
            <a:ext cx="1819275" cy="857250"/>
          </a:xfrm>
          <a:prstGeom prst="line">
            <a:avLst/>
          </a:prstGeom>
          <a:ln w="889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62275" y="1952625"/>
            <a:ext cx="581025" cy="1571625"/>
          </a:xfrm>
          <a:prstGeom prst="line">
            <a:avLst/>
          </a:prstGeom>
          <a:ln w="889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62275" y="3048000"/>
            <a:ext cx="1085850" cy="476250"/>
          </a:xfrm>
          <a:prstGeom prst="line">
            <a:avLst/>
          </a:prstGeom>
          <a:ln w="25400">
            <a:solidFill>
              <a:srgbClr val="CFE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664425" y="4104254"/>
            <a:ext cx="69125" cy="277246"/>
          </a:xfrm>
          <a:custGeom>
            <a:avLst/>
            <a:gdLst/>
            <a:ahLst/>
            <a:cxnLst/>
            <a:rect l="l" t="t" r="r" b="b"/>
            <a:pathLst>
              <a:path w="69125" h="277246">
                <a:moveTo>
                  <a:pt x="69125" y="277246"/>
                </a:moveTo>
                <a:lnTo>
                  <a:pt x="68850" y="259211"/>
                </a:lnTo>
                <a:lnTo>
                  <a:pt x="68024" y="241194"/>
                </a:lnTo>
                <a:lnTo>
                  <a:pt x="66648" y="223210"/>
                </a:lnTo>
                <a:lnTo>
                  <a:pt x="64723" y="205276"/>
                </a:lnTo>
                <a:lnTo>
                  <a:pt x="62252" y="187410"/>
                </a:lnTo>
                <a:lnTo>
                  <a:pt x="59236" y="169627"/>
                </a:lnTo>
                <a:lnTo>
                  <a:pt x="55679" y="151944"/>
                </a:lnTo>
                <a:lnTo>
                  <a:pt x="51583" y="134379"/>
                </a:lnTo>
                <a:lnTo>
                  <a:pt x="46953" y="116947"/>
                </a:lnTo>
                <a:lnTo>
                  <a:pt x="41793" y="99664"/>
                </a:lnTo>
                <a:lnTo>
                  <a:pt x="36107" y="82547"/>
                </a:lnTo>
                <a:lnTo>
                  <a:pt x="29901" y="65612"/>
                </a:lnTo>
                <a:lnTo>
                  <a:pt x="23181" y="48874"/>
                </a:lnTo>
                <a:lnTo>
                  <a:pt x="15953" y="32349"/>
                </a:lnTo>
                <a:lnTo>
                  <a:pt x="8223" y="16052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114551" y="2993201"/>
            <a:ext cx="335508" cy="271689"/>
          </a:xfrm>
          <a:custGeom>
            <a:avLst/>
            <a:gdLst/>
            <a:ahLst/>
            <a:cxnLst/>
            <a:rect l="l" t="t" r="r" b="b"/>
            <a:pathLst>
              <a:path w="335508" h="271689">
                <a:moveTo>
                  <a:pt x="335508" y="271689"/>
                </a:moveTo>
                <a:lnTo>
                  <a:pt x="321886" y="247550"/>
                </a:lnTo>
                <a:lnTo>
                  <a:pt x="307069" y="224124"/>
                </a:lnTo>
                <a:lnTo>
                  <a:pt x="291097" y="201471"/>
                </a:lnTo>
                <a:lnTo>
                  <a:pt x="274008" y="179648"/>
                </a:lnTo>
                <a:lnTo>
                  <a:pt x="255846" y="158709"/>
                </a:lnTo>
                <a:lnTo>
                  <a:pt x="236657" y="138707"/>
                </a:lnTo>
                <a:lnTo>
                  <a:pt x="216489" y="119693"/>
                </a:lnTo>
                <a:lnTo>
                  <a:pt x="195392" y="101715"/>
                </a:lnTo>
                <a:lnTo>
                  <a:pt x="173420" y="84817"/>
                </a:lnTo>
                <a:lnTo>
                  <a:pt x="150629" y="69043"/>
                </a:lnTo>
                <a:lnTo>
                  <a:pt x="127074" y="54431"/>
                </a:lnTo>
                <a:lnTo>
                  <a:pt x="102817" y="41020"/>
                </a:lnTo>
                <a:lnTo>
                  <a:pt x="77917" y="28842"/>
                </a:lnTo>
                <a:lnTo>
                  <a:pt x="52438" y="17928"/>
                </a:lnTo>
                <a:lnTo>
                  <a:pt x="26444" y="8306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7275" y="4295775"/>
            <a:ext cx="171450" cy="1714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76550" y="3438525"/>
            <a:ext cx="171450" cy="1714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8050" y="1866900"/>
            <a:ext cx="190500" cy="1905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0700" y="407670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θ₁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2800" y="304800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D9534F"/>
                </a:solidFill>
                <a:latin typeface="Times New Roman"/>
                <a:ea typeface="Times New Roman"/>
                <a:cs typeface="Times New Roman"/>
              </a:rPr>
              <a:t>θ₂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400" y="373380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L₁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4700" y="259080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L₂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2850" y="1714500"/>
            <a:ext cx="1333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末端 (x, 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4095750"/>
            <a:ext cx="857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关节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5000" y="3295650"/>
            <a:ext cx="857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关节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38650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50" y="1200150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753100"/>
            <a:ext cx="4381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虚线 = 第一根连杆的延长线，θ₂ 就从这里量起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72100" y="838200"/>
            <a:ext cx="6438900" cy="16764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1650" y="1123950"/>
            <a:ext cx="57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0">
                <a:solidFill>
                  <a:srgbClr val="8B97A8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00" y="1066800"/>
            <a:ext cx="5353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θ₂ 是相对地面的（相对 x 轴）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400" y="1504950"/>
            <a:ext cx="53530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这样定义“每个关节各管各的，互不影响”。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2100" y="2686050"/>
            <a:ext cx="6438900" cy="1676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1650" y="2971800"/>
            <a:ext cx="57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400" y="2914650"/>
            <a:ext cx="5353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θ₂ 是相对第一根连杆的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400" y="3352800"/>
            <a:ext cx="53530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第二根要“叠加”在第一根已经转过的角度上。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72100" y="4533900"/>
            <a:ext cx="6438900" cy="15621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1650" y="4705350"/>
            <a:ext cx="6019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判断：答案是 B —— 相对角度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1650" y="5105400"/>
            <a:ext cx="6019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第二个关节的电机就装在第一根连杆的末端上，它转动时坐标系已经跟着转过了。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所以第二根连杆的绝对方向 = θ₁ + θ₂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2R 正运动学：两段向量首尾相接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M3 · 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 · M3　平面正运动学：1R → 2R → 3R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6496050" cy="5257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7250" y="4667250"/>
            <a:ext cx="5238750" cy="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38250" y="1333500"/>
            <a:ext cx="0" cy="400050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8250" y="1476375"/>
            <a:ext cx="2305050" cy="3190875"/>
          </a:xfrm>
          <a:prstGeom prst="line">
            <a:avLst/>
          </a:prstGeom>
          <a:ln w="25400">
            <a:solidFill>
              <a:srgbClr val="CFE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200400" y="2686050"/>
            <a:ext cx="990600" cy="571500"/>
          </a:xfrm>
          <a:prstGeom prst="line">
            <a:avLst/>
          </a:prstGeom>
          <a:ln w="25400">
            <a:solidFill>
              <a:srgbClr val="CFE0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38250" y="3257550"/>
            <a:ext cx="1962150" cy="1409700"/>
          </a:xfrm>
          <a:prstGeom prst="line">
            <a:avLst/>
          </a:prstGeom>
          <a:ln w="1016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00400" y="1476375"/>
            <a:ext cx="342900" cy="1781175"/>
          </a:xfrm>
          <a:prstGeom prst="line">
            <a:avLst/>
          </a:prstGeom>
          <a:ln w="1016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3429000" y="1476375"/>
            <a:ext cx="209550" cy="257175"/>
          </a:xfrm>
          <a:custGeom>
            <a:avLst/>
            <a:gdLst/>
            <a:ahLst/>
            <a:cxnLst/>
            <a:rect l="l" t="t" r="r" b="b"/>
            <a:pathLst>
              <a:path w="209550" h="257175">
                <a:moveTo>
                  <a:pt x="114300" y="0"/>
                </a:moveTo>
                <a:lnTo>
                  <a:pt x="209550" y="257175"/>
                </a:lnTo>
                <a:lnTo>
                  <a:pt x="0" y="238125"/>
                </a:lnTo>
                <a:close/>
              </a:path>
            </a:pathLst>
          </a:cu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749681" y="4371975"/>
            <a:ext cx="79119" cy="295275"/>
          </a:xfrm>
          <a:custGeom>
            <a:avLst/>
            <a:gdLst/>
            <a:ahLst/>
            <a:cxnLst/>
            <a:rect l="l" t="t" r="r" b="b"/>
            <a:pathLst>
              <a:path w="79119" h="295275">
                <a:moveTo>
                  <a:pt x="79119" y="295275"/>
                </a:moveTo>
                <a:lnTo>
                  <a:pt x="78803" y="275953"/>
                </a:lnTo>
                <a:lnTo>
                  <a:pt x="77855" y="256651"/>
                </a:lnTo>
                <a:lnTo>
                  <a:pt x="76275" y="237391"/>
                </a:lnTo>
                <a:lnTo>
                  <a:pt x="74067" y="218193"/>
                </a:lnTo>
                <a:lnTo>
                  <a:pt x="71231" y="199077"/>
                </a:lnTo>
                <a:lnTo>
                  <a:pt x="67772" y="180064"/>
                </a:lnTo>
                <a:lnTo>
                  <a:pt x="63692" y="161175"/>
                </a:lnTo>
                <a:lnTo>
                  <a:pt x="58996" y="142429"/>
                </a:lnTo>
                <a:lnTo>
                  <a:pt x="53690" y="123847"/>
                </a:lnTo>
                <a:lnTo>
                  <a:pt x="47779" y="105449"/>
                </a:lnTo>
                <a:lnTo>
                  <a:pt x="41268" y="87254"/>
                </a:lnTo>
                <a:lnTo>
                  <a:pt x="34166" y="69281"/>
                </a:lnTo>
                <a:lnTo>
                  <a:pt x="26480" y="51551"/>
                </a:lnTo>
                <a:lnTo>
                  <a:pt x="18217" y="34081"/>
                </a:lnTo>
                <a:lnTo>
                  <a:pt x="9388" y="16892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343267" y="2684542"/>
            <a:ext cx="368564" cy="277733"/>
          </a:xfrm>
          <a:custGeom>
            <a:avLst/>
            <a:gdLst/>
            <a:ahLst/>
            <a:cxnLst/>
            <a:rect l="l" t="t" r="r" b="b"/>
            <a:pathLst>
              <a:path w="368564" h="277733">
                <a:moveTo>
                  <a:pt x="368564" y="277733"/>
                </a:moveTo>
                <a:lnTo>
                  <a:pt x="353110" y="252453"/>
                </a:lnTo>
                <a:lnTo>
                  <a:pt x="336408" y="227979"/>
                </a:lnTo>
                <a:lnTo>
                  <a:pt x="318499" y="204375"/>
                </a:lnTo>
                <a:lnTo>
                  <a:pt x="299429" y="181698"/>
                </a:lnTo>
                <a:lnTo>
                  <a:pt x="279245" y="160006"/>
                </a:lnTo>
                <a:lnTo>
                  <a:pt x="257999" y="139354"/>
                </a:lnTo>
                <a:lnTo>
                  <a:pt x="235743" y="119793"/>
                </a:lnTo>
                <a:lnTo>
                  <a:pt x="212535" y="101374"/>
                </a:lnTo>
                <a:lnTo>
                  <a:pt x="188432" y="84141"/>
                </a:lnTo>
                <a:lnTo>
                  <a:pt x="163495" y="68140"/>
                </a:lnTo>
                <a:lnTo>
                  <a:pt x="137786" y="53409"/>
                </a:lnTo>
                <a:lnTo>
                  <a:pt x="111371" y="39986"/>
                </a:lnTo>
                <a:lnTo>
                  <a:pt x="84316" y="27905"/>
                </a:lnTo>
                <a:lnTo>
                  <a:pt x="56690" y="17197"/>
                </a:lnTo>
                <a:lnTo>
                  <a:pt x="28561" y="7887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2525" y="4581525"/>
            <a:ext cx="171450" cy="1714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14675" y="3171825"/>
            <a:ext cx="171450" cy="1714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48050" y="1381125"/>
            <a:ext cx="190500" cy="1905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66900" y="436245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θ₁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500" y="304800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D9534F"/>
                </a:solidFill>
                <a:latin typeface="Times New Roman"/>
                <a:ea typeface="Times New Roman"/>
                <a:cs typeface="Times New Roman"/>
              </a:rPr>
              <a:t>θ₂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1200" y="363855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L₁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457450"/>
            <a:ext cx="476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L₂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7900" y="2114550"/>
            <a:ext cx="1143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合向量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6650" y="1581150"/>
            <a:ext cx="1428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末端 (x, 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95850"/>
            <a:ext cx="857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原点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2650" y="3771900"/>
            <a:ext cx="857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关节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1700" y="4724400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5400" y="1314450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D7BD9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753100"/>
            <a:ext cx="61150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虚线 = 两段向量之和，也就是末端的真实位置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5650" y="838200"/>
            <a:ext cx="4705350" cy="21907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028700"/>
            <a:ext cx="4286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第一段的末端，就是第二段的起点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1524000"/>
            <a:ext cx="428625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9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x = L₁cos θ₁ + L₂cos(θ₁+θ₂)</a:t>
            </a:r>
          </a:p>
          <a:p>
            <a:pPr algn="l">
              <a:lnSpc>
                <a:spcPct val="185000"/>
              </a:lnSpc>
              <a:spcAft>
                <a:spcPts val="0"/>
              </a:spcAft>
            </a:pPr>
            <a:r>
              <a:rPr sz="19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y = L₁sin θ₁ + L₂sin(θ₁+θ₂)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05650" y="3162300"/>
            <a:ext cx="4705350" cy="19050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352800"/>
            <a:ext cx="4286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唯一的易错点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752850"/>
            <a:ext cx="42862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第二段里写的是 </a:t>
            </a:r>
            <a:r>
              <a:rPr sz="1600" b="1">
                <a:solidFill>
                  <a:srgbClr val="4A5568"/>
                </a:solidFill>
                <a:latin typeface="Times New Roman"/>
                <a:ea typeface="Times New Roman"/>
                <a:cs typeface="Times New Roman"/>
              </a:rPr>
              <a:t>cos(θ₁+θ₂)</a:t>
            </a: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600" b="1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不是</a:t>
            </a: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 cos(θ₂)。</a:t>
            </a: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写错这一个括号，整个末端位置就全错了。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05650" y="5200650"/>
            <a:ext cx="4705350" cy="8953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5200650"/>
            <a:ext cx="4286250" cy="895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角度累加 = 复合旋转 —— 这就是后面“变换链”思想的雏形。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2R 到 nR：多一段，就多累加一个角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M3 · 推广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 · M3　平面正运动学：1R → 2R → 3R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4076700" cy="4000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838200"/>
            <a:ext cx="37338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3R：再套一层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352550"/>
            <a:ext cx="4076700" cy="19050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600200"/>
            <a:ext cx="36957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x = L₁cos θ₁ + L₂cos(θ₁+θ₂)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　　　+ L₃cos(θ₁+θ₂+θ₃)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y = L₁sin θ₁ + L₂sin(θ₁+θ₂)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　　　+ L₃sin(θ₁+θ₂+θ₃)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3390900"/>
            <a:ext cx="4076700" cy="27051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50" y="3619500"/>
            <a:ext cx="36576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规律只有一句话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4076700"/>
            <a:ext cx="36576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i 段用的角度是前面所有角度之和：θ₁ + θ₂ + … + θᵢ。</a:t>
            </a:r>
          </a:p>
          <a:p>
            <a:pPr algn="l">
              <a:lnSpc>
                <a:spcPct val="175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记住这一句，就不需要背 3R、4R、5R 的公式。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6300" y="838200"/>
            <a:ext cx="7124700" cy="52578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5850" y="1047750"/>
            <a:ext cx="67056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写成循环：fk_nR 能算任意多段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5850" y="1485900"/>
            <a:ext cx="6705600" cy="2857500"/>
          </a:xfrm>
          <a:prstGeom prst="rect">
            <a:avLst/>
          </a:prstGeom>
          <a:solidFill>
            <a:srgbClr val="F6F8FA"/>
          </a:solidFill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6350" y="1676400"/>
            <a:ext cx="63246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def fk_nR(lengths, angles):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x = y = 0.0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acc = 0.0            # 累计角度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for L, a in zip(lengths, angles):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    acc += a         # ← 累加！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    x += L * np.cos(acc)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    y += L * np.sin(acc)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return x, 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5850" y="4476750"/>
            <a:ext cx="6705600" cy="16192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5400" y="4667250"/>
            <a:ext cx="6286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判断：这十几行已经够用了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400" y="5086350"/>
            <a:ext cx="6286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把它从平面搬到三维、把 cos/sin 换成旋转矩阵，就是 M8 的变换链。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可达空间：为什么是一个圆环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M3 · 能力边界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 · M3　平面正运动学：1R → 2R → 3R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5648325" cy="1676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50" y="838200"/>
            <a:ext cx="2857500" cy="167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0.08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6150" y="1047750"/>
            <a:ext cx="2381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内边界 r_min（m）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6150" y="1466850"/>
            <a:ext cx="23812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两段反向：|L₁ − L₂| = |0.30 − 0.22|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2675" y="838200"/>
            <a:ext cx="5648325" cy="1676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0325" y="838200"/>
            <a:ext cx="2857500" cy="167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0.52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7825" y="1047750"/>
            <a:ext cx="2381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外边界 r_max（m）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7825" y="1466850"/>
            <a:ext cx="23812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两段同向：L₁ + L₂ = 0.30 + 0.22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2628900"/>
            <a:ext cx="6096000" cy="27241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24050" y="2876550"/>
            <a:ext cx="2247900" cy="2247900"/>
          </a:xfrm>
          <a:prstGeom prst="ellipse">
            <a:avLst/>
          </a:prstGeom>
          <a:solidFill>
            <a:srgbClr val="E8EFF8"/>
          </a:solidFill>
          <a:ln w="3175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76550" y="3829050"/>
            <a:ext cx="342900" cy="342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3F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048000" y="2876550"/>
            <a:ext cx="0" cy="1123950"/>
          </a:xfrm>
          <a:prstGeom prst="line">
            <a:avLst/>
          </a:prstGeom>
          <a:ln w="3175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48000" y="4000500"/>
            <a:ext cx="171450" cy="0"/>
          </a:xfrm>
          <a:prstGeom prst="line">
            <a:avLst/>
          </a:prstGeom>
          <a:ln w="317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000375" y="3952875"/>
            <a:ext cx="95250" cy="9525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43250" y="283845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r_max = 0.52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5650" y="379095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r_min = 0.08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3200400"/>
            <a:ext cx="2286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末端可达区域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500" y="4876800"/>
            <a:ext cx="2381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这个环里每一点都到得了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181600"/>
            <a:ext cx="571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L₁ = 0.30 m　L₂ = 0.22 m　｜　圆环：0.08 ≤ r ≤ 0.52（单位 m）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10350" y="2628900"/>
            <a:ext cx="5200650" cy="27241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9900" y="2857500"/>
            <a:ext cx="47815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为什么是“环”，不是“圆”？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9900" y="3314700"/>
            <a:ext cx="47815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两段同向能伸到 0.52 m，两段反向只能缩到 0.08 m —— 中间的距离都取得到。</a:t>
            </a:r>
          </a:p>
          <a:p>
            <a:pPr algn="l">
              <a:lnSpc>
                <a:spcPct val="175000"/>
              </a:lnSpc>
              <a:spcAft>
                <a:spcPts val="100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但最里面那一小圈（r 小于 0.08 m）永远够不到，因为第一段连杆自己就有 0.30 m。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1000" y="5467350"/>
            <a:ext cx="11430000" cy="6286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550" y="5543550"/>
            <a:ext cx="11010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判断：这两个数就是这台臂的能力边界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5848350"/>
            <a:ext cx="1101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外边界由“能不能伸直”决定，内边界由“能不能缩回来”决定 —— 它们只和连杆长度有关，和角度无关。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动手：把公式写进 fk_2r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M3 · 上机任务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 · M3　平面正运动学：1R → 2R → 3R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11430000" cy="4000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838200"/>
            <a:ext cx="110871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打开 armblocks/blocks/planar.py，补全下面这个函数的两行核心代码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352550"/>
            <a:ext cx="11430000" cy="28194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562100"/>
            <a:ext cx="10858500" cy="2571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def fk_2r(L1, L2, q1, q2):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"""平面两连杆正运动学：关节角 → 末端坐标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q1 : 第一根连杆与 x 轴的夹角（弧度）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q2 : 第二根连杆相对第一根的夹角（弧度）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"""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# TODO(M3): 两段向量相加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x = ________________________________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y = ________________________________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1A2230"/>
                </a:solidFill>
                <a:latin typeface="Consolas"/>
                <a:ea typeface="Consolas"/>
                <a:cs typeface="Consolas"/>
              </a:rPr>
              <a:t>    return float(x), float(y)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4305300"/>
            <a:ext cx="3721037" cy="17907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495800"/>
            <a:ext cx="3340037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① 角度要对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876800"/>
            <a:ext cx="3340037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第二段必须用 np.cos(q1 + q2)，而不是 np.cos(q2)。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5386" y="4305300"/>
            <a:ext cx="3721037" cy="17907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886" y="4495800"/>
            <a:ext cx="3340037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② 类型要对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886" y="4876800"/>
            <a:ext cx="3340037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返回 float(x), float(y)，不要返回 numpy 标量，否则测试可能失败。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9773" y="4305300"/>
            <a:ext cx="3721037" cy="17907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273" y="4495800"/>
            <a:ext cx="3340037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③ 单位要对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273" y="4876800"/>
            <a:ext cx="3340037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输入角度是弧度。写测试时记得先 np.radians(30)。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预测—验证：扫描 θ₂，看 r 怎么变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M3 · 探究实验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第 3 章 · M3　平面正运动学：1R → 2R → 3R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11430000" cy="4000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838200"/>
            <a:ext cx="1108710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固定 θ₁ = 0°，让 θ₂ 从 0° 扫到 180°：末端到原点的距离 r 会怎么变？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352550"/>
            <a:ext cx="11430000" cy="266700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238500" y="3352800"/>
            <a:ext cx="6858000" cy="0"/>
          </a:xfrm>
          <a:prstGeom prst="line">
            <a:avLst/>
          </a:prstGeom>
          <a:ln w="12700">
            <a:solidFill>
              <a:srgbClr val="E8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38500" y="3028950"/>
            <a:ext cx="6858000" cy="0"/>
          </a:xfrm>
          <a:prstGeom prst="line">
            <a:avLst/>
          </a:prstGeom>
          <a:ln w="12700">
            <a:solidFill>
              <a:srgbClr val="E8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38500" y="2705100"/>
            <a:ext cx="6858000" cy="0"/>
          </a:xfrm>
          <a:prstGeom prst="line">
            <a:avLst/>
          </a:prstGeom>
          <a:ln w="12700">
            <a:solidFill>
              <a:srgbClr val="E8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38500" y="2381250"/>
            <a:ext cx="6858000" cy="0"/>
          </a:xfrm>
          <a:prstGeom prst="line">
            <a:avLst/>
          </a:prstGeom>
          <a:ln w="12700">
            <a:solidFill>
              <a:srgbClr val="E8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8500" y="2057400"/>
            <a:ext cx="6858000" cy="0"/>
          </a:xfrm>
          <a:prstGeom prst="line">
            <a:avLst/>
          </a:prstGeom>
          <a:ln w="12700">
            <a:solidFill>
              <a:srgbClr val="E8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38500" y="1771650"/>
            <a:ext cx="0" cy="190500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38500" y="3676650"/>
            <a:ext cx="6953250" cy="0"/>
          </a:xfrm>
          <a:prstGeom prst="line">
            <a:avLst/>
          </a:prstGeom>
          <a:ln w="25400">
            <a:solidFill>
              <a:srgbClr val="3D7B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38500" y="1992630"/>
            <a:ext cx="6858000" cy="0"/>
          </a:xfrm>
          <a:prstGeom prst="line">
            <a:avLst/>
          </a:prstGeom>
          <a:ln w="19050">
            <a:solidFill>
              <a:srgbClr val="1E4F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38500" y="3417570"/>
            <a:ext cx="6858000" cy="0"/>
          </a:xfrm>
          <a:prstGeom prst="line">
            <a:avLst/>
          </a:prstGeom>
          <a:ln w="19050">
            <a:solidFill>
              <a:srgbClr val="0E3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3238500" y="1992630"/>
            <a:ext cx="6858000" cy="1424940"/>
          </a:xfrm>
          <a:custGeom>
            <a:avLst/>
            <a:gdLst/>
            <a:ahLst/>
            <a:cxnLst/>
            <a:rect l="l" t="t" r="r" b="b"/>
            <a:pathLst>
              <a:path w="6858000" h="1424940">
                <a:moveTo>
                  <a:pt x="0" y="0"/>
                </a:moveTo>
                <a:lnTo>
                  <a:pt x="571500" y="13926"/>
                </a:lnTo>
                <a:lnTo>
                  <a:pt x="1143000" y="56026"/>
                </a:lnTo>
                <a:lnTo>
                  <a:pt x="1714500" y="125006"/>
                </a:lnTo>
                <a:lnTo>
                  <a:pt x="2286000" y="219894"/>
                </a:lnTo>
                <a:lnTo>
                  <a:pt x="2857500" y="338747"/>
                </a:lnTo>
                <a:lnTo>
                  <a:pt x="3429000" y="479298"/>
                </a:lnTo>
                <a:lnTo>
                  <a:pt x="4000500" y="638308"/>
                </a:lnTo>
                <a:lnTo>
                  <a:pt x="4572000" y="812540"/>
                </a:lnTo>
                <a:lnTo>
                  <a:pt x="5143500" y="996486"/>
                </a:lnTo>
                <a:lnTo>
                  <a:pt x="5715000" y="1181405"/>
                </a:lnTo>
                <a:lnTo>
                  <a:pt x="6286500" y="1345921"/>
                </a:lnTo>
                <a:lnTo>
                  <a:pt x="6858000" y="1424940"/>
                </a:lnTo>
              </a:path>
            </a:pathLst>
          </a:custGeom>
          <a:noFill/>
          <a:ln w="508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81350" y="1935480"/>
            <a:ext cx="114300" cy="1143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9350" y="3360420"/>
            <a:ext cx="114300" cy="1143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1850" y="1687830"/>
            <a:ext cx="4000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E4FA8"/>
                </a:solidFill>
                <a:latin typeface="Times New Roman"/>
                <a:ea typeface="Times New Roman"/>
                <a:cs typeface="Times New Roman"/>
              </a:rPr>
              <a:t>r = 0.52（θ₂ = 0°，伸得最远）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0" y="1600200"/>
            <a:ext cx="4000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r = 0.08（θ₂ = 180°，缩得最短）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20250" y="1905000"/>
            <a:ext cx="381000" cy="1371600"/>
          </a:xfrm>
          <a:prstGeom prst="line">
            <a:avLst/>
          </a:prstGeom>
          <a:ln w="15240">
            <a:solidFill>
              <a:srgbClr val="0E3F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57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30°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3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60°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90°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120°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150°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0" y="37338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180°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3238500"/>
            <a:ext cx="6286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2590800"/>
            <a:ext cx="6286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1943100"/>
            <a:ext cx="6286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1933575"/>
            <a:ext cx="6286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r /m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8900" y="3733800"/>
            <a:ext cx="38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2230"/>
                </a:solidFill>
                <a:latin typeface="Times New Roman"/>
                <a:ea typeface="Times New Roman"/>
                <a:cs typeface="Times New Roman"/>
              </a:rPr>
              <a:t>θ₂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" y="4133850"/>
            <a:ext cx="11430000" cy="9906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550" y="4267200"/>
            <a:ext cx="6667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洞察：r 在 [0°, 180°] 上严格单调减小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4610100"/>
            <a:ext cx="66675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第二段先“绕出去”再“收回来”，所以曲线是光滑下滑、没有回升。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4750" y="4248150"/>
            <a:ext cx="4076700" cy="76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15250" y="4248150"/>
            <a:ext cx="36957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关键结论：r 只取决于 θ₂ —— 把 θ₁ 改成 90° 再做一次，r 的曲线一模一样。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81000" y="5238750"/>
          <a:ext cx="11430000" cy="857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8375"/>
                <a:gridCol w="1571625"/>
                <a:gridCol w="1571625"/>
                <a:gridCol w="1571625"/>
                <a:gridCol w="1571625"/>
                <a:gridCol w="1571625"/>
                <a:gridCol w="1333500"/>
              </a:tblGrid>
              <a:tr h="42862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六个可手算的校验点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(0°, 0°)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(0°, 90°)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(90°, 0°)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(90°, −90°)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(35°, 60°)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(0°, 180°)</a:t>
                      </a:r>
                    </a:p>
                  </a:txBody>
                  <a:tcPr anchor="ctr" marL="95250" marR="95250" marT="19050" marB="19050">
                    <a:solidFill>
                      <a:srgbClr val="0E3F8C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末端 (x, y) / m</a:t>
                      </a:r>
                    </a:p>
                  </a:txBody>
                  <a:tcPr anchor="ctr" marL="95250" marR="95250" marT="19050" marB="19050">
                    <a:solidFill>
                      <a:srgbClr val="E8EFF8"/>
                    </a:solidFill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(0.5200, 0.0000)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(0.3000, 0.2200)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(0.0000, 0.5200)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(0.2200, 0.3000)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(0.2266, 0.3912)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A22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(0.0800, 0.0000)</a:t>
                      </a:r>
                    </a:p>
                  </a:txBody>
                  <a:tcPr anchor="ctr" marL="95250" marR="95250" marT="19050" marB="19050">
                    <a:noFill/>
                    <a:lnL w="12700" cap="flat" cmpd="sng" algn="ctr">
                      <a:solidFill>
                        <a:srgbClr val="E8EFF8"/>
                      </a:solidFill>
                    </a:lnL>
                    <a:lnR w="12700" cap="flat" cmpd="sng" algn="ctr">
                      <a:solidFill>
                        <a:srgbClr val="E8EFF8"/>
                      </a:solidFill>
                    </a:lnR>
                    <a:lnT w="12700" cap="flat" cmpd="sng" algn="ctr">
                      <a:solidFill>
                        <a:srgbClr val="E8EFF8"/>
                      </a:solidFill>
                    </a:lnT>
                    <a:lnB w="12700" cap="flat" cmpd="sng" algn="ctr">
                      <a:solidFill>
                        <a:srgbClr val="E8EFF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0"/>
            <a:ext cx="838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速查卡：把三节课压缩成一页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0"/>
            <a:ext cx="3048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248400"/>
            <a:ext cx="7239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机械臂运动学 · 前三讲（高中版）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6248400"/>
            <a:ext cx="457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20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838200"/>
            <a:ext cx="3238500" cy="52578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104900"/>
            <a:ext cx="2762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Times New Roman"/>
                <a:ea typeface="Times New Roman"/>
                <a:cs typeface="Times New Roman"/>
              </a:rPr>
              <a:t>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1428750"/>
            <a:ext cx="27622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四条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" y="2743200"/>
            <a:ext cx="666750" cy="28575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3009900"/>
            <a:ext cx="27622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①② 是概念，③④ 才是新公式。只背公式不理解 ①②，遇到真机就不知道自己在算哪个空间。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524500"/>
            <a:ext cx="2762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M1 – M3 · 打地基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8100" y="838200"/>
            <a:ext cx="7962900" cy="12382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7650" y="1209675"/>
            <a:ext cx="495300" cy="4953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7650" y="1209675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3450" y="1047750"/>
            <a:ext cx="685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FK 与 IK 方向相反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3450" y="1428750"/>
            <a:ext cx="68580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FK：关节角 → 末端位置，</a:t>
            </a:r>
            <a:r>
              <a:rPr sz="1500" b="1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一定有唯一答案</a:t>
            </a: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；IK：末端位置 → 关节角，</a:t>
            </a:r>
            <a:r>
              <a:rPr sz="15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可能多解、可能无解</a:t>
            </a: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8100" y="2190750"/>
            <a:ext cx="7962900" cy="123825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57650" y="2562225"/>
            <a:ext cx="4953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7650" y="2562225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3450" y="2400300"/>
            <a:ext cx="685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两个空间，两种语言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3450" y="2781300"/>
            <a:ext cx="68580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关节空间用角度（电机听得懂）；笛卡尔空间用坐标（人说得清）。运动学就是这两个空间之间的翻译官。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8100" y="3543300"/>
            <a:ext cx="7962900" cy="12382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57650" y="3914775"/>
            <a:ext cx="495300" cy="4953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7650" y="3914775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3450" y="3752850"/>
            <a:ext cx="685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一根连杆的翻译公式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3450" y="4133850"/>
            <a:ext cx="68580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正向：x = L·cos θ，y = L·sin θ　　反向：L = hypot(x, y)，θ = atan2(y, 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8100" y="4895850"/>
            <a:ext cx="7962900" cy="1238250"/>
          </a:xfrm>
          <a:prstGeom prst="rect">
            <a:avLst/>
          </a:prstGeom>
          <a:noFill/>
          <a:ln w="12700">
            <a:solidFill>
              <a:srgbClr val="E8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57650" y="5267325"/>
            <a:ext cx="495300" cy="4953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57650" y="5267325"/>
            <a:ext cx="495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E3F8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3450" y="5105400"/>
            <a:ext cx="685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多段连杆：角度要累加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3450" y="5486400"/>
            <a:ext cx="68580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第 i 段用 θ₁ + … + θᵢ；可达空间是圆环 |L₁ − L₂| ≤ r ≤ L₁ + L₂（L₁=0.30、L₂=0.22 时是 0.08 ~ 0.52 m）。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066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90650"/>
            <a:ext cx="66675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从平面，走进三维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266950"/>
            <a:ext cx="914400" cy="381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533650"/>
            <a:ext cx="66675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8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平面的 fk_nR 只要把 cos / sin 换成旋转矩阵、把角度累加换成矩阵连乘，就是三维的变换链（M8）。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76650"/>
            <a:ext cx="6667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7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今天埋下的两个伏笔 —— UR5 不是球形手腕（M10）、一个目标可能有两组解（M4）—— 都会在后面的课里用数据拆开。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5029200"/>
            <a:ext cx="6667500" cy="10287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5181600"/>
            <a:ext cx="62865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课后立刻能跑：python demos/demo_planar_2r.py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课程代码与讲义：github.com/AlionFan/arm-kinematics-course</a:t>
            </a:r>
          </a:p>
        </p:txBody>
      </p:sp>
      <p:sp>
        <p:nvSpPr>
          <p:cNvPr id="11" name="Oval 10"/>
          <p:cNvSpPr/>
          <p:nvPr/>
        </p:nvSpPr>
        <p:spPr>
          <a:xfrm>
            <a:off x="8705850" y="1276350"/>
            <a:ext cx="1638300" cy="571500"/>
          </a:xfrm>
          <a:prstGeom prst="ellipse">
            <a:avLst/>
          </a:prstGeom>
          <a:noFill/>
          <a:ln w="254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143000"/>
            <a:ext cx="762000" cy="266700"/>
          </a:xfrm>
          <a:prstGeom prst="ellipse">
            <a:avLst/>
          </a:prstGeom>
          <a:noFill/>
          <a:ln w="254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01150" y="1676400"/>
            <a:ext cx="647700" cy="647700"/>
          </a:xfrm>
          <a:prstGeom prst="ellipse">
            <a:avLst/>
          </a:prstGeom>
          <a:noFill/>
          <a:ln w="254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25000" y="2324100"/>
            <a:ext cx="457200" cy="133350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82200" y="2914650"/>
            <a:ext cx="762000" cy="74295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39275" y="2238375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96475" y="3571875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48950" y="2819400"/>
            <a:ext cx="190500" cy="190500"/>
          </a:xfrm>
          <a:prstGeom prst="ellipse">
            <a:avLst/>
          </a:prstGeom>
          <a:solidFill>
            <a:srgbClr val="1E4FA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0" y="5219700"/>
            <a:ext cx="495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平面（2R）→ 三维（6R / 7R）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6600" y="2876550"/>
            <a:ext cx="1047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FE0F5"/>
                </a:solidFill>
                <a:latin typeface="Microsoft YaHei"/>
                <a:ea typeface="Microsoft YaHei"/>
                <a:cs typeface="Microsoft YaHei"/>
              </a:rPr>
              <a:t>末端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