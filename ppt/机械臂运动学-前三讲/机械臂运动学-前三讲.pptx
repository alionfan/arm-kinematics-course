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开场 3 分钟。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不要先讲公式。先指着这张图问三个问题：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这台机械臂"手"（末端）现在在哪里？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我如果想让手移动到别处，该拧哪几个关节？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有没有可能拧法不止一种？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这三个问题分别对应：正运动学、逆运动学、逆解多解性——也就是前三讲要解决的全部内容。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强调本课的一句话主线：机械臂运动学，本质上就是三角函数。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版本信息：UR5 为主力模型（6 自由度），宇树 R1 为对照模型（7 自由度），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两台机器人的参数文件都已放在课程仓库里，学生可以自己打开对照。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预告考核方式：每讲一次"预测—验证"记录，期末做一个能在仿真里到达指定点位的小项目。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本章只走三站，每站一个问题。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第 1 站（P3–P7）：机械臂怎么"知道"手在哪？建立两个空间的直觉，并用 UR5 与宇树 R1 的实测数据做对照。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第 2 站（P8–P12）：单位圆与"角度坐标"。把 sin、cos 从"三角形里的比值"升级成"坐标"，再引出 atan2。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第 3 站（P13–P20）：平面正运动学。从 1R 讲到 3R，亲手推出角度累加公式，最后发现可达空间是一个圆环。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节奏说明：每站都是"先看懂图 → 再推公式 → 最后写代码验证"。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整门课的计算量很小，难点全在"把图看对"。提醒学生随时可以打断提问。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第 1 讲驱动问题：机械臂怎么"知道"自己的手在哪？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这一讲不写代码，只做三件事：认识"关节链"这个结构、分清"两个空间"、说清 FK 与 IK 的方向。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课堂先让学生看一眼实物/仿真里的 UR5，数一数它有几个关节，再猜"要控制手的位置，至少要几个数"。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结论先不给，留到 P4–P7 逐张图揭晓。本讲结束时学生要能自己复述：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"关节角是输入，末端位置是输出；反过来求就是逆运动学。"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看图说话，不要念文字。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从左到右数：底座、6 个关节、末端执行器。每个关节都由一个电机驱动，电机的转角就是"关节变量"。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"关节"和"电机"要区分：关节是机械转动副，电机是拧动它的东西，而我们真正关心的是转角这个数。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右边 6 个表盘就是"关节变量 q1…q6"的直观样子：一根针指向当前角度。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关键洞察：机械臂的"状态"可以用 6 个角度完全描述。6 个数字决定一切，包括手在哪、朝向哪。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对比说明：UR5 是 6 自由度（q1…q6）；宇树 R1 是 7 自由度，多出 1 个表盘。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本页留一个悬念：6 个数字 → 手的位置，这个映射是唯一确定的吗？反过来呢？下一张图回答。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提问设计：让学生指着手臂说出"第 3 个关节转 10 度，末端会往哪动"，先凭直觉答，M3 再用公式验证。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本页是整个 M1 的核心概念页，务必讲透"两个空间"的差别。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左盘：关节空间。描述方式＝一串角度（q1, q2, …, q6）。它的"坐标轴"是角度，单位是度或弧度。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右盘：笛卡尔空间（操作空间）。描述方式＝末端的位置 (x, y, z) 与姿态。坐标轴就是普通的直角坐标。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中间的箭头说明两者的关系：这是同一台机械臂的两种描述方式，可以互相换算，但换算方向难度完全不同。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重点提醒：右盘的红色点才是我们"任务层面"关心的东西（我要抓的那个杯子在哪），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但机器人硬件只能直接控制左盘的角度。所以两个空间之间的换算是整门课的主线。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常见误区：学生容易以为 (x, y) 就能定死手的位置。其实平面上还要朝向，空间中还要姿态（3 个角度），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一共 6 个自由度——这正好解释了为什么常见工业臂是 6 轴。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板书建议：在左盘写 "6 个数 = 角度"，右盘写 "6 个数 = 3 位置 + 3 姿态"。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上箭头 FK（正运动学）：给一串关节角，算出末端在哪。这是"由内向外"，结果是唯一的。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把每个关节的旋转效果一层层叠起来就行——M3 就是教你叠这件事，也是本课最"可算"的部分。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下箭头 IK（逆运动学）：给末端目标位置，反推关节角。这是"由外向内"。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为什么 IK 难？三个原因：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可能无解——目标点根本不在可达范围里（M3 会算出这个范围长什么样）。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可能多解——同样一个点，"肘向上"和"肘向下"两种姿态都能到；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可能有无数解——7 自由度的宇树 R1 就是这种"冗余"结构，多一个自由度就多一族解。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结论口播："FK 是套公式，IK 是解方程。"这门课的前三讲先把 FK 彻底吃透，IK 留到 M4。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可以现场演示：在仿真里把末端拖到某个点，让学生看关节角在两个解之间跳变。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本页用真实参数说话，全部数据来自仓库里的 URDF / DH 文件，可复现。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UR5：末端到基座原点的可达距离 0.036 m – 1.028 m，臂展约 1 米，是典型的中型工业臂。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宇树 R1：可达距离 0.013 m – 0.542 m，只有 UR5 的一半左右，属于轻量桌面级。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关键读图结论：R1 的区间【完全被】UR5 的区间包住——不是"差不多"，是严格包含关系。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这意味着 UR5 能到的每一个距离，R1 理论上都能到；反之不成立。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教学takeaway：选型时"臂展"是第一硬约束。如果任务点距离底座 0.8 m，R1 直接出局。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追问一句：为什么近处反而"够不到"？因为第一段连杆自己就有 0.30 m，机械臂收不回原点。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这个"空心"会在 M3 变成一个圆环，学生到时候会有"原来如此"的感觉。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UR5 零位时末端在 (0.817, 0.191, −0.005) m，距底座 0.839 m；R1 零位末端距底座 0.196 m。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这两个数可以用来验算：都在各自的 [min, max] 区间内。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第 2 讲驱动问题：一个角度，凭什么能当成坐标用？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学生的痛点通常不是"不会算 sin"，而是"不知道 sin 是什么"——他们把 sin 记成三角形里的对边比斜边，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一旦脱离直角三角形就懵了。本讲要把它重新定义成"圆上一点的纵坐标"。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路线：复活单位圆（P9）→ 把半径从 1 放大到 L（P10）→ 补上弧度制（P11）→ 解决反解象限问题（P12）。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本讲只有一课时，节奏要快，但单位圆这张图必须让学生自己画一遍。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先在黑板上画一个半径 1 的圆，圆心在原点。这就是单位圆。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从原点出发、与 x 轴正方向成 θ 角的那条半径，它的终点必然落在圆上。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这个终点的横坐标就是 cos θ，纵坐标就是 sin θ。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一句话定义：cos 是"水平投影的长度"，sin 是"垂直投影的长度"。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关键突破：这样定义之后，θ 可以取任何值——大于 90° 也行，负角也行，超过 360° 也行。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直角三角形那套定义做不到这一点，单位圆可以。这是学生认知升级的关键一步。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提醒符号规律：θ 在第二象限时 cos 为负（横坐标是负的），但 sin 仍为正。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可以让学生当场做 3 个快速判断：θ=90° 时坐标是多少？（0, 1）θ=180°？（−1, 0）θ=270°？（0, −1）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这四个点要背到条件反射，M2 的 atan2 和 M3 的圆环都会用到。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板书金句："单位圆不是图形，是一张对照表：角度 → 坐标。"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单位圆只是半径等于 1 的特例。真正的连杆有长度 L，所以要把它放大。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半径从 1 变成 L，角度不变，于是点的坐标整体乘 L：横坐标 L·cos θ，纵坐标 L·sin θ。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这就是一根长度为 L 的连杆、转过 θ 角之后，末端的位置。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这一步是整门课的"发动机"：M3 的 2R、3R 公式，本质上就是把好几个这样的向量加起来。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务必强调：L 是"连杆长度"，是机械设计定死的常数，学生不需要关心它怎么来的。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类比提示：把连杆想成一根指针，θ 是它转过的角度，L 是它的长度。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常见错误：把 L 乘在角度上，写成 cos(L·θ)。可以当场用反例打破——L 是长度，单位是米，不能进 cos。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课堂小练习：L=0.30 m，θ=60°，让学生口算末端坐标（0.15, 0.2598）。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数值验证：仓库 demos/demo_single_link.py 里 L=0.3，可直接跑出来对照。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一句话说清弧度的定义：在单位圆上，一段弧的长度就等于它所对圆心角的弧度数。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所以"绕半圈"的弧长是 π，对应 180°；"绕四分之一圈"的弧长是 π/2，对应 90°。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为什么编程里要用弧度？因为 sin、cos 的展开式、导数公式在弧度制下才最简洁（sin 的导数是 cos），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计算机内部一律用弧度，Python 的 math.sin(x) 里的 x 必须是弧度，给度数会得到完全错误的结果。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这是学生写代码时最高频的 bug：忘了 math.radians()。本讲之后每次写代码都要检查这一点。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换算口诀：度 → 弧度乘 π/180；弧度 → 度乘 180/π。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课堂快问快答：45° 是多少弧度？90°？180°？360°？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记忆锚点：π/6=30°、π/4=45°、π/3=60°、π/2=90°，这四个要背。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仓库里的 armblocks/blocks/trig.py 有 deg2rad / rad2deg 两个现成函数，M2 的填空会用到。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问题从哪来：M3 反解要"已知末端坐标 (x, y)，求关节角 θ"，这一步就是反三角函数。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arctan(y/x) 的返回值只有 (−90°, 90°)，它只看得见右半平面。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所以 (1, 1) 和 (−1, −1) 这两个点，arctan 给的都是 45°，无法区分。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atan2(y, x) 同时接收 x 和 y 两个参数，因此知道点在哪个象限，返回值范围是 (−180°, 180°]。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结论要背下来：编程里反解角度，一律用 atan2，不要用 arctan。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注意参数顺序：atan2 是 (y, x)，不是 (x, y)。这是第二个高频 bug。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顺便提醒：atan2 返回的是弧度，要显示成度数记得再乘 180/π。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课堂验证：让学生算 atan2(1, −1)。答案是 135°（即 3π/4），而 arctan(1/−1) 给的是 −45°。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仓库 armblocks/blocks/trig.py 的 xy_to_polar 就是留空让学生填 atan2 的地方。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易错点补充：当 x=0 时 arctan 会出现除以零，atan2 没有这个问题——这也是工程上必须用它的一条理由。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第 3 讲是前三讲的落点，也是计算量最大的一讲，共两课时。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"1R / 2R / 3R" 的意思是：只有 1 个关节、2 个关节、3 个关节的平面机械臂。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先把最简单的 1R 写对，再加一个关节变成 2R，再加一个变成 3R，然后总结出通式——这是本课的推导方法。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本讲会产出三样东西：① 角度累加公式；② 一个可运行的 fk_2r 函数；③ 对"可达空间为什么是圆环"的理解。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课末做一次完整的"预测—验证"：先猜末端落在哪，再跑代码看有没有猜对。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这是 M3 最容易错的地方，必须单独用一页讲。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问题：第二段连杆（L2）的转角 θ2 是从哪里量的？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答：θ2 是"相对转角"，从第一段连杆的延长线开始量，不是从 x 轴开始量。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为什么？因为第二段的电机装在第一节连杆的末端，它跟着第一节一起转。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所以第二个关节的"世界角"= θ1 + θ2。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这就是"角度累加"的来源，也是 M3 公式里为什么会出现 (θ1 + θ2) 的原因。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右边的对照图专门用来防止混淆：蓝色弧是从 x 轴量的 θ1，红色虚线弧是从 x 轴量的 θ1+θ2，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而 θ2 只是这两者之差。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常见错误：直接把 θ2 当成世界角写进公式，结果仿真里的手臂永远对不上。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可以让这个错误现场发生一次：用错公式跑一遍，让学生看到手臂歪掉的样子，印象会非常深。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推而广之：第 n 段连杆的世界角 = θ1 + θ2 + … + θn。M3 的通式就建立在这句话上。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核心思想一句话：末端不是"一个点算出来的"，而是"两段位移向量加起来"。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第一段连杆贡献一个向量 a1，长度 L1，方向 θ1。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第二段连杆贡献一个向量 a2，长度 L2，方向是它的世界角 θ1+θ2（上一页刚讲完）。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末端的坐标就是这两个向量的和：r = a1 + a2。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写成坐标形式，就是分别把 x 分量和 y 分量相加：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x = L1·cos θ1 + L2·cos(θ1+θ2)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y = L1·sin θ1 + L2·sin(θ1+θ2)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这就是平面 2R 机械臂的正运动学公式——本课最重要的一个结果。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强调"向量相加"这个词：学生在物理里学过力的合成、位移的合成，这里是同一件事。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三角形法则的直观：从底座出发，沿 a1 走一段，再沿 a2 走一段，终点就是末端。中间那个拐点就是"肘"。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数值印证：L1=0.30、L2=0.22、θ1=35°、θ2=60° 时，末端算出来是 (0.2266, 0.3912)。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这个组数让学生自己按计算器验一遍，比老师演示更有效。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这一页展示"从特例到通式"的推导路径，学生要跟着走一遍。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1R：只有一段连杆，末端就在这个圆的边上，x = L·cos θ。这就是 M2 的结果。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2R：加上第二段，用上一页的向量相加，得到两项之和。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3R：再加一段，注意第三段的世界角是 θ1+θ2+θ3，所以第三项里是三个角相加。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规律立刻显现：第 i 段连杆贡献的项是 Li·cos(θ1+θ2+…+θi)。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通式：x = Σ Li·cos(θ1+…+θi)，y 方向同理把 cos 换成 sin。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强调：这不是"背公式"，而是"听规律"。n 段连杆就写 n 项，形式完全一致。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代码实现时这条通式就是一个 for 循环：累加 θ，累加 Li·cos(累加和)。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空间臂（UR5、R1）之所以复杂，是因为多了"绕竖直轴转"和"手腕朝向"这些维度，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但每一维的思路和这里完全一样，只是把平面三角换成三维旋转矩阵。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课堂练习：让学生把 3R 的 y 方向通式也写出来，检验是否真的理解。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这一页是 M3 的结论页，也是学生要抄进笔记本的一页。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平面 2R 正运动学：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x = L1·cos θ1 + L2·cos(θ1+θ2)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y = L1·sin θ1 + L2·sin(θ1+θ2)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右侧是五组可手算的校验点，用的是课程里的真实连杆长度 L1 = 0.30 m、L2 = 0.22 m。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建议让学生至少手工验算其中两组，例如：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· θ1 = 0°, θ2 = 90°：第一段指向 x 正方向，末端在 (0.30, 0)；第二段从那里向上转 90°，再到 (0.30, 0.22)。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· θ1 = 0°, θ2 = 180°：两段连杆完全折叠，末端距离原点 0.30 − 0.22 = 0.08 m。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最后这一组数（0.08）非常关键，它就是下一张图"圆环"的内边界。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左下角的示意图标注了三段累加角：θ1、θ1+θ2、θ1+θ2+θ3，用来强化"角度累加"这个主线。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提醒学生：这些数全部来自仓库 demos/demo_planar_2r.py，可以自己跑一遍核对。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这是 M3 最有"顿悟感"的一页。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外边界：两段连杆完全伸直，末端离原点最远，距离 = L1 + L2 = 0.30 + 0.22 = 0.52 m。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内边界：两段连杆完全折叠（θ2 = 180°），末端离原点最近，距离 = L1 − L2 = 0.08 m。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取绝对值，因为如果 L2 &gt; L1，内边界就是 L2 − L1。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结论：可达距离 r 落在 [|L1 − L2|, L1 + L2] 之间——这就是一个圆环（annulus）。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所以圆内那个小洞是永远的"死区"：机械臂再灵活也够不到，因为第一段连杆自己就有 0.30 m 长。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教学takeaway：这就是为什么工业机器人总要装在支架或导轨上——为了把工作空间挪到需要的地方。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和 P7 呼应：UR5 的 0.036–1.028 m、R1 的 0.013–0.542 m，本质都是这个圆环公式在真实机构上的结果，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只是 UR5 是多关节串联，实际的下限由机构和外形（不是简单的 L1−L2）决定，但"有一个够不到的内圈"这一条永远成立。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易错点：学生常以为 θ2 = 180° 时末端在原点，其实不在，距离是 0.08 m。这点必须用公式或代码验证一次。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本页把公式变成一条曲线，让学生"看见"运动学。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实验设置：固定 θ1，只让 θ2 从 0° 慢慢转到 180°，记录末端到原点的距离 r。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公式：r = √(L1² + L2² + 2·L1·L2·cos θ2)。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这是余弦定理的直接结果——两段连杆和末端到原点的连线构成一个三角形。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读图要点：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θ2 = 0°（完全伸直）时 r 最大，0.52 m。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θ2 = 180°（完全折叠）时 r 最小，0.08 m。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③ 在 0°→180° 这段区间里，r 是严格单调减小的，没有反复。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④ 最重要的一点：这条曲线【只和 θ2 有关，与 θ1 完全无关】。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把 θ1 从 0° 改成 90°，曲线一点变化都没有。因为 r 只取决于两个连杆之间的夹角。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这个发现让学生第一次意识到：旋转整体坐标系不改变末端到原点的距离。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课堂做法：让学生先预测曲线形状（画在纸上），再跑 demo 看结果，对比差异。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可视化提示：在仿真里关掉渲染只看数值，或者把 r 直接打印出来，能更快对上曲线。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这一页把公式落到代码，是"理论带动实践"的落点。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任务：打开仓库里的 armblocks/blocks/planar.py，找到 fk_2r 函数，把 4 个空填上。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填空提示（不要直接给答案）：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· 第一个空：第一段连杆在 x 方向的投影，用哪个三角函数？自变量是 q1 还是 q1+q2？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· 第二个空：第二段连杆在 x 方向的投影，注意它的角度是累加后的 q1+q2。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· 第三、四个空：y 方向同理，把 cos 换成 sin。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正确结果（教师用）：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x = L1*cos(q1) + L2*cos(q1+q2)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y = L1*sin(q1) + L2*sin(q1+q2)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验收方式：跑 pytest。仓库里有一份只留 TODO 的学生版和一份参考解，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用 ARMBLOCKS_IMPL=solutions pytest -q 跑参考解应该是全过；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用学生版直接跑，会看到 9 个失败——这 9 个失败就是全课的填空清单。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注意坑：Python 的 math.cos 只接受弧度，如果学生想用度数，必须写 math.radians(q1)。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建议先让学生手写一遍，再上机填，手写和上机各算一次能显著减少"抄错的公式"。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YaHei"/>
                <a:ea typeface="Microsoft YaHei"/>
                <a:cs typeface="Microsoft YaHei"/>
              </a:rPr>
              <a:t>收尾 3 分钟。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回顾前三讲：单位圆给出 x = L·cos θ、y = L·sin θ；向量相加给出 2R 公式；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角度累加给出任意 nR 的通式。这三条就是正运动学的全部主干。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下一讲（M4）要翻转方向：已知末端目标点 (x, y)，反解 θ1 和 θ2。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预告两个悬念，让学生带着问题走：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① 如果目标点落在圆环外面（比如 r = 0.8 m），会怎样？——无解。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② 如果目标点在圆环里面，解是不是唯一的？——不是，"肘向上"和"肘向下"两个解。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这两个问题就是逆运动学的全部难点，也是 M4 要解决的。</a:t>
            </a:r>
          </a:p>
          <a:p>
            <a:r>
              <a:rPr sz="1200">
                <a:latin typeface="Microsoft YaHei"/>
                <a:ea typeface="Microsoft YaHei"/>
                <a:cs typeface="Microsoft YaHei"/>
              </a:rPr>
              <a:t>课后作业：三份讲义的课后练习做完，并把 5 组校验点的计算过程写在实验报告里。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04950"/>
            <a:ext cx="6286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高中 · 机器人运动学入门课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09750"/>
            <a:ext cx="647700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机械臂运动学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705100"/>
            <a:ext cx="6477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Robotic Arm Kinematics with Trigonometry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219450"/>
            <a:ext cx="8763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3467100"/>
            <a:ext cx="5905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用三角函数看懂机械臂：从关节角到末端位置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76750"/>
            <a:ext cx="5905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5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适用对象  高中 · 有三角函数基础、会一点 Python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5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课时安排  5 课时（M1 两课时 · M2 一课时 · M3 两课时）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5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配套机型  UR5（主力）· 宇树 R1（对照）</a:t>
            </a:r>
          </a:p>
        </p:txBody>
      </p:sp>
      <p:sp>
        <p:nvSpPr>
          <p:cNvPr id="9" name="Freeform 8"/>
          <p:cNvSpPr/>
          <p:nvPr/>
        </p:nvSpPr>
        <p:spPr>
          <a:xfrm>
            <a:off x="6900518" y="1677103"/>
            <a:ext cx="4338532" cy="3565958"/>
          </a:xfrm>
          <a:custGeom>
            <a:avLst/>
            <a:gdLst/>
            <a:ahLst/>
            <a:cxnLst/>
            <a:rect l="l" t="t" r="r" b="b"/>
            <a:pathLst>
              <a:path w="4338532" h="3565958">
                <a:moveTo>
                  <a:pt x="4274457" y="3565958"/>
                </a:moveTo>
                <a:lnTo>
                  <a:pt x="4304616" y="3401229"/>
                </a:lnTo>
                <a:lnTo>
                  <a:pt x="4325388" y="3235056"/>
                </a:lnTo>
                <a:lnTo>
                  <a:pt x="4336706" y="3067971"/>
                </a:lnTo>
                <a:lnTo>
                  <a:pt x="4338532" y="2900514"/>
                </a:lnTo>
                <a:lnTo>
                  <a:pt x="4330862" y="2733223"/>
                </a:lnTo>
                <a:lnTo>
                  <a:pt x="4313721" y="2566636"/>
                </a:lnTo>
                <a:lnTo>
                  <a:pt x="4287162" y="2401288"/>
                </a:lnTo>
                <a:lnTo>
                  <a:pt x="4251273" y="2237712"/>
                </a:lnTo>
                <a:lnTo>
                  <a:pt x="4206167" y="2076434"/>
                </a:lnTo>
                <a:lnTo>
                  <a:pt x="4151991" y="1917972"/>
                </a:lnTo>
                <a:lnTo>
                  <a:pt x="4088918" y="1762837"/>
                </a:lnTo>
                <a:lnTo>
                  <a:pt x="4017152" y="1611527"/>
                </a:lnTo>
                <a:lnTo>
                  <a:pt x="3936922" y="1464528"/>
                </a:lnTo>
                <a:lnTo>
                  <a:pt x="3848488" y="1322315"/>
                </a:lnTo>
                <a:lnTo>
                  <a:pt x="3752134" y="1185344"/>
                </a:lnTo>
                <a:lnTo>
                  <a:pt x="3648170" y="1054056"/>
                </a:lnTo>
                <a:lnTo>
                  <a:pt x="3536929" y="928873"/>
                </a:lnTo>
                <a:lnTo>
                  <a:pt x="3418771" y="810198"/>
                </a:lnTo>
                <a:lnTo>
                  <a:pt x="3294075" y="698412"/>
                </a:lnTo>
                <a:lnTo>
                  <a:pt x="3163241" y="593876"/>
                </a:lnTo>
                <a:lnTo>
                  <a:pt x="3026692" y="496925"/>
                </a:lnTo>
                <a:lnTo>
                  <a:pt x="2884866" y="407871"/>
                </a:lnTo>
                <a:lnTo>
                  <a:pt x="2738219" y="327002"/>
                </a:lnTo>
                <a:lnTo>
                  <a:pt x="2587224" y="254576"/>
                </a:lnTo>
                <a:lnTo>
                  <a:pt x="2432365" y="190827"/>
                </a:lnTo>
                <a:lnTo>
                  <a:pt x="2274141" y="135959"/>
                </a:lnTo>
                <a:lnTo>
                  <a:pt x="2113061" y="90150"/>
                </a:lnTo>
                <a:lnTo>
                  <a:pt x="1949643" y="53547"/>
                </a:lnTo>
                <a:lnTo>
                  <a:pt x="1784413" y="26268"/>
                </a:lnTo>
                <a:lnTo>
                  <a:pt x="1617902" y="8399"/>
                </a:lnTo>
                <a:lnTo>
                  <a:pt x="1450646" y="0"/>
                </a:lnTo>
                <a:lnTo>
                  <a:pt x="1283183" y="1096"/>
                </a:lnTo>
                <a:lnTo>
                  <a:pt x="1116051" y="11684"/>
                </a:lnTo>
                <a:lnTo>
                  <a:pt x="949788" y="31730"/>
                </a:lnTo>
                <a:lnTo>
                  <a:pt x="784929" y="61170"/>
                </a:lnTo>
                <a:lnTo>
                  <a:pt x="622004" y="99910"/>
                </a:lnTo>
                <a:lnTo>
                  <a:pt x="461538" y="147823"/>
                </a:lnTo>
                <a:lnTo>
                  <a:pt x="304046" y="204757"/>
                </a:lnTo>
                <a:lnTo>
                  <a:pt x="150034" y="270527"/>
                </a:lnTo>
                <a:lnTo>
                  <a:pt x="0" y="344923"/>
                </a:lnTo>
              </a:path>
            </a:pathLst>
          </a:custGeom>
          <a:noFill/>
          <a:ln w="20320">
            <a:solidFill>
              <a:srgbClr val="1B5C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86700" y="4648200"/>
            <a:ext cx="800100" cy="152400"/>
          </a:xfrm>
          <a:prstGeom prst="rect">
            <a:avLst/>
          </a:prstGeom>
          <a:solidFill>
            <a:srgbClr val="1B5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8286750" y="2859405"/>
            <a:ext cx="376238" cy="1769745"/>
          </a:xfrm>
          <a:prstGeom prst="line">
            <a:avLst/>
          </a:prstGeom>
          <a:ln w="1143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662988" y="2232660"/>
            <a:ext cx="1283970" cy="626745"/>
          </a:xfrm>
          <a:prstGeom prst="line">
            <a:avLst/>
          </a:prstGeom>
          <a:ln w="1016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/>
          <p:cNvSpPr/>
          <p:nvPr/>
        </p:nvSpPr>
        <p:spPr>
          <a:xfrm>
            <a:off x="8437257" y="3921069"/>
            <a:ext cx="573393" cy="708081"/>
          </a:xfrm>
          <a:custGeom>
            <a:avLst/>
            <a:gdLst/>
            <a:ahLst/>
            <a:cxnLst/>
            <a:rect l="l" t="t" r="r" b="b"/>
            <a:pathLst>
              <a:path w="573393" h="708081">
                <a:moveTo>
                  <a:pt x="573393" y="708081"/>
                </a:moveTo>
                <a:lnTo>
                  <a:pt x="572974" y="683449"/>
                </a:lnTo>
                <a:lnTo>
                  <a:pt x="571717" y="658845"/>
                </a:lnTo>
                <a:lnTo>
                  <a:pt x="569623" y="634298"/>
                </a:lnTo>
                <a:lnTo>
                  <a:pt x="566695" y="609836"/>
                </a:lnTo>
                <a:lnTo>
                  <a:pt x="562937" y="585489"/>
                </a:lnTo>
                <a:lnTo>
                  <a:pt x="558352" y="561283"/>
                </a:lnTo>
                <a:lnTo>
                  <a:pt x="552947" y="537248"/>
                </a:lnTo>
                <a:lnTo>
                  <a:pt x="546726" y="513410"/>
                </a:lnTo>
                <a:lnTo>
                  <a:pt x="539698" y="489798"/>
                </a:lnTo>
                <a:lnTo>
                  <a:pt x="531871" y="466438"/>
                </a:lnTo>
                <a:lnTo>
                  <a:pt x="523254" y="443359"/>
                </a:lnTo>
                <a:lnTo>
                  <a:pt x="513856" y="420586"/>
                </a:lnTo>
                <a:lnTo>
                  <a:pt x="503688" y="398146"/>
                </a:lnTo>
                <a:lnTo>
                  <a:pt x="492763" y="376065"/>
                </a:lnTo>
                <a:lnTo>
                  <a:pt x="481093" y="354368"/>
                </a:lnTo>
                <a:lnTo>
                  <a:pt x="468691" y="333081"/>
                </a:lnTo>
                <a:lnTo>
                  <a:pt x="455572" y="312229"/>
                </a:lnTo>
                <a:lnTo>
                  <a:pt x="441752" y="291835"/>
                </a:lnTo>
                <a:lnTo>
                  <a:pt x="427245" y="271923"/>
                </a:lnTo>
                <a:lnTo>
                  <a:pt x="412069" y="252516"/>
                </a:lnTo>
                <a:lnTo>
                  <a:pt x="396242" y="233637"/>
                </a:lnTo>
                <a:lnTo>
                  <a:pt x="379781" y="215307"/>
                </a:lnTo>
                <a:lnTo>
                  <a:pt x="362706" y="197548"/>
                </a:lnTo>
                <a:lnTo>
                  <a:pt x="345037" y="180381"/>
                </a:lnTo>
                <a:lnTo>
                  <a:pt x="326793" y="163824"/>
                </a:lnTo>
                <a:lnTo>
                  <a:pt x="307997" y="147898"/>
                </a:lnTo>
                <a:lnTo>
                  <a:pt x="288670" y="132621"/>
                </a:lnTo>
                <a:lnTo>
                  <a:pt x="268835" y="118010"/>
                </a:lnTo>
                <a:lnTo>
                  <a:pt x="248513" y="104083"/>
                </a:lnTo>
                <a:lnTo>
                  <a:pt x="227730" y="90855"/>
                </a:lnTo>
                <a:lnTo>
                  <a:pt x="206508" y="78342"/>
                </a:lnTo>
                <a:lnTo>
                  <a:pt x="184873" y="66558"/>
                </a:lnTo>
                <a:lnTo>
                  <a:pt x="162849" y="55518"/>
                </a:lnTo>
                <a:lnTo>
                  <a:pt x="140463" y="45233"/>
                </a:lnTo>
                <a:lnTo>
                  <a:pt x="117740" y="35716"/>
                </a:lnTo>
                <a:lnTo>
                  <a:pt x="94705" y="26977"/>
                </a:lnTo>
                <a:lnTo>
                  <a:pt x="71387" y="19028"/>
                </a:lnTo>
                <a:lnTo>
                  <a:pt x="47812" y="11876"/>
                </a:lnTo>
                <a:lnTo>
                  <a:pt x="24007" y="5531"/>
                </a:lnTo>
                <a:lnTo>
                  <a:pt x="0" y="0"/>
                </a:lnTo>
              </a:path>
            </a:pathLst>
          </a:custGeom>
          <a:noFill/>
          <a:ln w="279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8765966" y="2374928"/>
            <a:ext cx="342194" cy="267352"/>
          </a:xfrm>
          <a:custGeom>
            <a:avLst/>
            <a:gdLst/>
            <a:ahLst/>
            <a:cxnLst/>
            <a:rect l="l" t="t" r="r" b="b"/>
            <a:pathLst>
              <a:path w="342194" h="267352">
                <a:moveTo>
                  <a:pt x="342194" y="267352"/>
                </a:moveTo>
                <a:lnTo>
                  <a:pt x="337154" y="257308"/>
                </a:lnTo>
                <a:lnTo>
                  <a:pt x="331886" y="247381"/>
                </a:lnTo>
                <a:lnTo>
                  <a:pt x="326395" y="237576"/>
                </a:lnTo>
                <a:lnTo>
                  <a:pt x="320683" y="227898"/>
                </a:lnTo>
                <a:lnTo>
                  <a:pt x="314753" y="218353"/>
                </a:lnTo>
                <a:lnTo>
                  <a:pt x="308608" y="208944"/>
                </a:lnTo>
                <a:lnTo>
                  <a:pt x="302251" y="199677"/>
                </a:lnTo>
                <a:lnTo>
                  <a:pt x="295685" y="190557"/>
                </a:lnTo>
                <a:lnTo>
                  <a:pt x="288915" y="181588"/>
                </a:lnTo>
                <a:lnTo>
                  <a:pt x="281942" y="172775"/>
                </a:lnTo>
                <a:lnTo>
                  <a:pt x="274771" y="164122"/>
                </a:lnTo>
                <a:lnTo>
                  <a:pt x="267406" y="155634"/>
                </a:lnTo>
                <a:lnTo>
                  <a:pt x="259850" y="147316"/>
                </a:lnTo>
                <a:lnTo>
                  <a:pt x="252107" y="139171"/>
                </a:lnTo>
                <a:lnTo>
                  <a:pt x="244182" y="131204"/>
                </a:lnTo>
                <a:lnTo>
                  <a:pt x="236078" y="123419"/>
                </a:lnTo>
                <a:lnTo>
                  <a:pt x="227799" y="115819"/>
                </a:lnTo>
                <a:lnTo>
                  <a:pt x="219350" y="108410"/>
                </a:lnTo>
                <a:lnTo>
                  <a:pt x="210735" y="101194"/>
                </a:lnTo>
                <a:lnTo>
                  <a:pt x="201959" y="94175"/>
                </a:lnTo>
                <a:lnTo>
                  <a:pt x="193025" y="87358"/>
                </a:lnTo>
                <a:lnTo>
                  <a:pt x="183939" y="80744"/>
                </a:lnTo>
                <a:lnTo>
                  <a:pt x="174706" y="74339"/>
                </a:lnTo>
                <a:lnTo>
                  <a:pt x="165330" y="68144"/>
                </a:lnTo>
                <a:lnTo>
                  <a:pt x="155815" y="62164"/>
                </a:lnTo>
                <a:lnTo>
                  <a:pt x="146167" y="56402"/>
                </a:lnTo>
                <a:lnTo>
                  <a:pt x="136391" y="50859"/>
                </a:lnTo>
                <a:lnTo>
                  <a:pt x="126492" y="45540"/>
                </a:lnTo>
                <a:lnTo>
                  <a:pt x="116475" y="40447"/>
                </a:lnTo>
                <a:lnTo>
                  <a:pt x="106344" y="35583"/>
                </a:lnTo>
                <a:lnTo>
                  <a:pt x="96106" y="30949"/>
                </a:lnTo>
                <a:lnTo>
                  <a:pt x="85766" y="26549"/>
                </a:lnTo>
                <a:lnTo>
                  <a:pt x="75328" y="22385"/>
                </a:lnTo>
                <a:lnTo>
                  <a:pt x="64798" y="18459"/>
                </a:lnTo>
                <a:lnTo>
                  <a:pt x="54182" y="14772"/>
                </a:lnTo>
                <a:lnTo>
                  <a:pt x="43486" y="11328"/>
                </a:lnTo>
                <a:lnTo>
                  <a:pt x="32714" y="8127"/>
                </a:lnTo>
                <a:lnTo>
                  <a:pt x="21871" y="5171"/>
                </a:lnTo>
                <a:lnTo>
                  <a:pt x="10965" y="2462"/>
                </a:lnTo>
                <a:lnTo>
                  <a:pt x="0" y="0"/>
                </a:lnTo>
              </a:path>
            </a:pathLst>
          </a:custGeom>
          <a:noFill/>
          <a:ln w="279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72450" y="451485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67738" y="2764155"/>
            <a:ext cx="190500" cy="190500"/>
          </a:xfrm>
          <a:prstGeom prst="ellipse">
            <a:avLst/>
          </a:prstGeom>
          <a:solidFill>
            <a:srgbClr val="1E4FA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42182" y="2127885"/>
            <a:ext cx="209550" cy="209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72550" y="38766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θ1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24288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θ2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6025" y="197167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末端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2175" y="1381125"/>
            <a:ext cx="1047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B5CBC"/>
                </a:solidFill>
                <a:latin typeface="Microsoft YaHei"/>
                <a:ea typeface="Microsoft YaHei"/>
                <a:cs typeface="Microsoft YaHei"/>
              </a:rPr>
              <a:t>可达范围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02 / 21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883092" y="1554480"/>
            <a:ext cx="280036" cy="600075"/>
          </a:xfrm>
          <a:prstGeom prst="line">
            <a:avLst/>
          </a:prstGeom>
          <a:ln w="93345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63128" y="1554480"/>
            <a:ext cx="480060" cy="180022"/>
          </a:xfrm>
          <a:prstGeom prst="line">
            <a:avLst/>
          </a:prstGeom>
          <a:ln w="8001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643188" y="1354455"/>
            <a:ext cx="180022" cy="380047"/>
          </a:xfrm>
          <a:prstGeom prst="line">
            <a:avLst/>
          </a:prstGeom>
          <a:ln w="66675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813084" y="2084546"/>
            <a:ext cx="140018" cy="14001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03120" y="1494472"/>
            <a:ext cx="120015" cy="120015"/>
          </a:xfrm>
          <a:prstGeom prst="ellipse">
            <a:avLst/>
          </a:prstGeom>
          <a:solidFill>
            <a:srgbClr val="3D7BD9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93181" y="1684496"/>
            <a:ext cx="100012" cy="100012"/>
          </a:xfrm>
          <a:prstGeom prst="ellips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3202" y="1294447"/>
            <a:ext cx="120015" cy="120015"/>
          </a:xfrm>
          <a:prstGeom prst="ellipse">
            <a:avLst/>
          </a:prstGeom>
          <a:solidFill>
            <a:srgbClr val="1E4FA8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914400"/>
            <a:ext cx="104775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1162050"/>
            <a:ext cx="0" cy="110490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1295400"/>
            <a:ext cx="666750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机械臂怎么“知道”手在哪？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68000" y="914400"/>
            <a:ext cx="114300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P3–P7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2590800"/>
            <a:ext cx="11277600" cy="0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905000" y="2990850"/>
            <a:ext cx="876300" cy="876300"/>
          </a:xfrm>
          <a:prstGeom prst="ellipse">
            <a:avLst/>
          </a:prstGeom>
          <a:noFill/>
          <a:ln w="304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343150" y="3083733"/>
            <a:ext cx="269752" cy="345267"/>
          </a:xfrm>
          <a:prstGeom prst="line">
            <a:avLst/>
          </a:prstGeom>
          <a:ln w="254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12902" y="3083733"/>
            <a:ext cx="0" cy="345267"/>
          </a:xfrm>
          <a:prstGeom prst="line">
            <a:avLst/>
          </a:prstGeom>
          <a:ln w="15240">
            <a:solidFill>
              <a:srgbClr val="1E4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3150" y="3083733"/>
            <a:ext cx="269752" cy="0"/>
          </a:xfrm>
          <a:prstGeom prst="line">
            <a:avLst/>
          </a:prstGeom>
          <a:ln w="15240">
            <a:solidFill>
              <a:srgbClr val="1E4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570040" y="3040871"/>
            <a:ext cx="85725" cy="85725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2434866" y="3311609"/>
            <a:ext cx="57255" cy="117391"/>
          </a:xfrm>
          <a:custGeom>
            <a:avLst/>
            <a:gdLst/>
            <a:ahLst/>
            <a:cxnLst/>
            <a:rect l="l" t="t" r="r" b="b"/>
            <a:pathLst>
              <a:path w="57255" h="117391">
                <a:moveTo>
                  <a:pt x="57255" y="117391"/>
                </a:moveTo>
                <a:lnTo>
                  <a:pt x="57217" y="114011"/>
                </a:lnTo>
                <a:lnTo>
                  <a:pt x="57102" y="110633"/>
                </a:lnTo>
                <a:lnTo>
                  <a:pt x="56910" y="107259"/>
                </a:lnTo>
                <a:lnTo>
                  <a:pt x="56642" y="103889"/>
                </a:lnTo>
                <a:lnTo>
                  <a:pt x="56297" y="100527"/>
                </a:lnTo>
                <a:lnTo>
                  <a:pt x="55877" y="97173"/>
                </a:lnTo>
                <a:lnTo>
                  <a:pt x="55380" y="93830"/>
                </a:lnTo>
                <a:lnTo>
                  <a:pt x="54808" y="90499"/>
                </a:lnTo>
                <a:lnTo>
                  <a:pt x="54160" y="87182"/>
                </a:lnTo>
                <a:lnTo>
                  <a:pt x="53437" y="83880"/>
                </a:lnTo>
                <a:lnTo>
                  <a:pt x="52639" y="80595"/>
                </a:lnTo>
                <a:lnTo>
                  <a:pt x="51767" y="77330"/>
                </a:lnTo>
                <a:lnTo>
                  <a:pt x="50821" y="74085"/>
                </a:lnTo>
                <a:lnTo>
                  <a:pt x="49802" y="70862"/>
                </a:lnTo>
                <a:lnTo>
                  <a:pt x="48710" y="67663"/>
                </a:lnTo>
                <a:lnTo>
                  <a:pt x="47546" y="64490"/>
                </a:lnTo>
                <a:lnTo>
                  <a:pt x="46310" y="61344"/>
                </a:lnTo>
                <a:lnTo>
                  <a:pt x="45003" y="58227"/>
                </a:lnTo>
                <a:lnTo>
                  <a:pt x="43625" y="55141"/>
                </a:lnTo>
                <a:lnTo>
                  <a:pt x="42178" y="52086"/>
                </a:lnTo>
                <a:lnTo>
                  <a:pt x="40662" y="49066"/>
                </a:lnTo>
                <a:lnTo>
                  <a:pt x="39078" y="46080"/>
                </a:lnTo>
                <a:lnTo>
                  <a:pt x="37426" y="43131"/>
                </a:lnTo>
                <a:lnTo>
                  <a:pt x="35708" y="40220"/>
                </a:lnTo>
                <a:lnTo>
                  <a:pt x="33925" y="37349"/>
                </a:lnTo>
                <a:lnTo>
                  <a:pt x="32077" y="34519"/>
                </a:lnTo>
                <a:lnTo>
                  <a:pt x="30165" y="31732"/>
                </a:lnTo>
                <a:lnTo>
                  <a:pt x="28190" y="28989"/>
                </a:lnTo>
                <a:lnTo>
                  <a:pt x="26153" y="26291"/>
                </a:lnTo>
                <a:lnTo>
                  <a:pt x="24056" y="23641"/>
                </a:lnTo>
                <a:lnTo>
                  <a:pt x="21899" y="21038"/>
                </a:lnTo>
                <a:lnTo>
                  <a:pt x="19684" y="18485"/>
                </a:lnTo>
                <a:lnTo>
                  <a:pt x="17412" y="15983"/>
                </a:lnTo>
                <a:lnTo>
                  <a:pt x="15083" y="13534"/>
                </a:lnTo>
                <a:lnTo>
                  <a:pt x="12699" y="11137"/>
                </a:lnTo>
                <a:lnTo>
                  <a:pt x="10262" y="8796"/>
                </a:lnTo>
                <a:lnTo>
                  <a:pt x="7772" y="6510"/>
                </a:lnTo>
                <a:lnTo>
                  <a:pt x="5230" y="4282"/>
                </a:lnTo>
                <a:lnTo>
                  <a:pt x="2639" y="2111"/>
                </a:lnTo>
                <a:lnTo>
                  <a:pt x="0" y="0"/>
                </a:lnTo>
              </a:path>
            </a:pathLst>
          </a:custGeom>
          <a:noFill/>
          <a:ln w="203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28900"/>
            <a:ext cx="104775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00400" y="2876550"/>
            <a:ext cx="0" cy="110490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05200" y="3009900"/>
            <a:ext cx="666750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单位圆与“角度坐标”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00" y="2628900"/>
            <a:ext cx="114300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P8–P12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4305300"/>
            <a:ext cx="11277600" cy="0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onut 30"/>
          <p:cNvSpPr/>
          <p:nvPr/>
        </p:nvSpPr>
        <p:spPr>
          <a:xfrm>
            <a:off x="1905000" y="4705350"/>
            <a:ext cx="876300" cy="876300"/>
          </a:xfrm>
          <a:prstGeom prst="donut">
            <a:avLst>
              <a:gd name="adj" fmla="val 28260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52650" y="4953000"/>
            <a:ext cx="381000" cy="38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343150" y="4924425"/>
            <a:ext cx="379449" cy="219075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2314575" y="5114925"/>
            <a:ext cx="57150" cy="571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343400"/>
            <a:ext cx="104775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200400" y="4591050"/>
            <a:ext cx="0" cy="110490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505200" y="4724400"/>
            <a:ext cx="666750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平面正运动学：1R → 2R → 3R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8000" y="4343400"/>
            <a:ext cx="114300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P13–P20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2450" y="914400"/>
            <a:ext cx="4000500" cy="285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1000" b="1">
                <a:solidFill>
                  <a:srgbClr val="1651A8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733800"/>
            <a:ext cx="762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机械臂怎么“知道”手在哪？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550" y="4610100"/>
            <a:ext cx="8001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1500" y="4876800"/>
            <a:ext cx="125730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4876800"/>
            <a:ext cx="12573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正运动学 FK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2150" y="4876800"/>
            <a:ext cx="125730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2150" y="4876800"/>
            <a:ext cx="12573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逆运动学 IK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800" y="4876800"/>
            <a:ext cx="112395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2800" y="4876800"/>
            <a:ext cx="11239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两个空间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23885" y="2537460"/>
            <a:ext cx="560070" cy="1200150"/>
          </a:xfrm>
          <a:prstGeom prst="line">
            <a:avLst/>
          </a:prstGeom>
          <a:ln w="18669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83955" y="2537460"/>
            <a:ext cx="960120" cy="360045"/>
          </a:xfrm>
          <a:prstGeom prst="line">
            <a:avLst/>
          </a:prstGeom>
          <a:ln w="160020">
            <a:solidFill>
              <a:srgbClr val="CFE0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744075" y="2137410"/>
            <a:ext cx="360045" cy="760095"/>
          </a:xfrm>
          <a:prstGeom prst="line">
            <a:avLst/>
          </a:prstGeom>
          <a:ln w="13335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083867" y="3597592"/>
            <a:ext cx="280035" cy="280035"/>
          </a:xfrm>
          <a:prstGeom prst="ellips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3940" y="2417445"/>
            <a:ext cx="240030" cy="240030"/>
          </a:xfrm>
          <a:prstGeom prst="ellipse">
            <a:avLst/>
          </a:prstGeom>
          <a:solidFill>
            <a:srgbClr val="CFE0F5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4062" y="2797492"/>
            <a:ext cx="200025" cy="200025"/>
          </a:xfrm>
          <a:prstGeom prst="ellipse">
            <a:avLst/>
          </a:prstGeom>
          <a:solidFill>
            <a:srgbClr val="CF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984105" y="2017395"/>
            <a:ext cx="240030" cy="240030"/>
          </a:xfrm>
          <a:prstGeom prst="ellipse">
            <a:avLst/>
          </a:prstGeom>
          <a:solidFill>
            <a:srgbClr val="3D7BD9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E95C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机械臂是一串“关节”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M1 · 第 1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04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76400" y="5410200"/>
            <a:ext cx="4572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905000" y="4095750"/>
            <a:ext cx="0" cy="1238250"/>
          </a:xfrm>
          <a:prstGeom prst="line">
            <a:avLst/>
          </a:prstGeom>
          <a:ln w="1270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905000" y="3003232"/>
            <a:ext cx="764858" cy="1092518"/>
          </a:xfrm>
          <a:prstGeom prst="line">
            <a:avLst/>
          </a:prstGeom>
          <a:ln w="1270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669858" y="2878455"/>
            <a:ext cx="1423034" cy="124777"/>
          </a:xfrm>
          <a:prstGeom prst="line">
            <a:avLst/>
          </a:prstGeom>
          <a:ln w="1270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092892" y="2878455"/>
            <a:ext cx="523876" cy="907733"/>
          </a:xfrm>
          <a:prstGeom prst="line">
            <a:avLst/>
          </a:prstGeom>
          <a:ln w="1016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616768" y="3786188"/>
            <a:ext cx="874394" cy="234314"/>
          </a:xfrm>
          <a:prstGeom prst="line">
            <a:avLst/>
          </a:prstGeom>
          <a:ln w="1016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790700" y="5219700"/>
            <a:ext cx="228600" cy="2286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66925" y="5048250"/>
            <a:ext cx="285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790700" y="3981450"/>
            <a:ext cx="228600" cy="2286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66925" y="3810000"/>
            <a:ext cx="285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2555558" y="2888932"/>
            <a:ext cx="228600" cy="2286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1782" y="2717482"/>
            <a:ext cx="285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3978592" y="2764155"/>
            <a:ext cx="228600" cy="2286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4818" y="2592705"/>
            <a:ext cx="285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22" name="Oval 21"/>
          <p:cNvSpPr/>
          <p:nvPr/>
        </p:nvSpPr>
        <p:spPr>
          <a:xfrm>
            <a:off x="4502468" y="3671888"/>
            <a:ext cx="228600" cy="2286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8692" y="3500438"/>
            <a:ext cx="285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sp>
        <p:nvSpPr>
          <p:cNvPr id="24" name="Oval 23"/>
          <p:cNvSpPr/>
          <p:nvPr/>
        </p:nvSpPr>
        <p:spPr>
          <a:xfrm>
            <a:off x="5376862" y="3906202"/>
            <a:ext cx="228600" cy="2286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53088" y="3734752"/>
            <a:ext cx="285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6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5491162" y="3887152"/>
            <a:ext cx="247650" cy="133350"/>
          </a:xfrm>
          <a:prstGeom prst="line">
            <a:avLst/>
          </a:prstGeom>
          <a:ln w="50800">
            <a:solidFill>
              <a:srgbClr val="1A22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91162" y="4020502"/>
            <a:ext cx="247650" cy="133350"/>
          </a:xfrm>
          <a:prstGeom prst="line">
            <a:avLst/>
          </a:prstGeom>
          <a:ln w="50800">
            <a:solidFill>
              <a:srgbClr val="1A22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85825" y="54387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底座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0" y="4181475"/>
            <a:ext cx="762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末端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153150" y="3143250"/>
            <a:ext cx="2152650" cy="0"/>
          </a:xfrm>
          <a:prstGeom prst="line">
            <a:avLst/>
          </a:prstGeom>
          <a:ln w="27940">
            <a:solidFill>
              <a:srgbClr val="3D7B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53200" y="2790825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q1 … q6</a:t>
            </a:r>
          </a:p>
        </p:txBody>
      </p:sp>
      <p:sp>
        <p:nvSpPr>
          <p:cNvPr id="32" name="Oval 31"/>
          <p:cNvSpPr/>
          <p:nvPr/>
        </p:nvSpPr>
        <p:spPr>
          <a:xfrm>
            <a:off x="8534400" y="1428750"/>
            <a:ext cx="647700" cy="647700"/>
          </a:xfrm>
          <a:prstGeom prst="ellipse">
            <a:avLst/>
          </a:pr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8858250" y="1499997"/>
            <a:ext cx="0" cy="252603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833485" y="17278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6250" y="21050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q1</a:t>
            </a:r>
          </a:p>
        </p:txBody>
      </p:sp>
      <p:sp>
        <p:nvSpPr>
          <p:cNvPr id="36" name="Oval 35"/>
          <p:cNvSpPr/>
          <p:nvPr/>
        </p:nvSpPr>
        <p:spPr>
          <a:xfrm>
            <a:off x="10058400" y="1428750"/>
            <a:ext cx="647700" cy="647700"/>
          </a:xfrm>
          <a:prstGeom prst="ellipse">
            <a:avLst/>
          </a:pr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0382250" y="1545680"/>
            <a:ext cx="144887" cy="206920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0357485" y="17278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20250" y="21050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q2</a:t>
            </a:r>
          </a:p>
        </p:txBody>
      </p:sp>
      <p:sp>
        <p:nvSpPr>
          <p:cNvPr id="40" name="Oval 39"/>
          <p:cNvSpPr/>
          <p:nvPr/>
        </p:nvSpPr>
        <p:spPr>
          <a:xfrm>
            <a:off x="8534400" y="2762250"/>
            <a:ext cx="647700" cy="647700"/>
          </a:xfrm>
          <a:prstGeom prst="ellipse">
            <a:avLst/>
          </a:pr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8858250" y="3064084"/>
            <a:ext cx="251642" cy="22016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833485" y="30613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96250" y="34385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q3</a:t>
            </a:r>
          </a:p>
        </p:txBody>
      </p:sp>
      <p:sp>
        <p:nvSpPr>
          <p:cNvPr id="44" name="Oval 43"/>
          <p:cNvSpPr/>
          <p:nvPr/>
        </p:nvSpPr>
        <p:spPr>
          <a:xfrm>
            <a:off x="10058400" y="2762250"/>
            <a:ext cx="647700" cy="647700"/>
          </a:xfrm>
          <a:prstGeom prst="ellipse">
            <a:avLst/>
          </a:pr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382250" y="3086100"/>
            <a:ext cx="126302" cy="218761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357485" y="30613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20250" y="34385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q4</a:t>
            </a:r>
          </a:p>
        </p:txBody>
      </p:sp>
      <p:sp>
        <p:nvSpPr>
          <p:cNvPr id="48" name="Oval 47"/>
          <p:cNvSpPr/>
          <p:nvPr/>
        </p:nvSpPr>
        <p:spPr>
          <a:xfrm>
            <a:off x="8534400" y="4095750"/>
            <a:ext cx="647700" cy="647700"/>
          </a:xfrm>
          <a:prstGeom prst="ellipse">
            <a:avLst/>
          </a:pr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8858250" y="4419600"/>
            <a:ext cx="228936" cy="106755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833485" y="43948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6250" y="47720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q5</a:t>
            </a:r>
          </a:p>
        </p:txBody>
      </p:sp>
      <p:sp>
        <p:nvSpPr>
          <p:cNvPr id="52" name="Oval 51"/>
          <p:cNvSpPr/>
          <p:nvPr/>
        </p:nvSpPr>
        <p:spPr>
          <a:xfrm>
            <a:off x="10058400" y="4095750"/>
            <a:ext cx="647700" cy="647700"/>
          </a:xfrm>
          <a:prstGeom prst="ellipse">
            <a:avLst/>
          </a:pr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0382250" y="4293298"/>
            <a:ext cx="218761" cy="126302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357485" y="43948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20250" y="47720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同一台机械臂，两种描述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M1 · 第 1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05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028700"/>
            <a:ext cx="4838700" cy="476250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72300" y="1028700"/>
            <a:ext cx="4838700" cy="476250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257300"/>
            <a:ext cx="4381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关节空间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900" y="1257300"/>
            <a:ext cx="4381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笛卡尔空间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" y="1676400"/>
            <a:ext cx="4381500" cy="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00900" y="1676400"/>
            <a:ext cx="4381500" cy="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700" y="2362200"/>
            <a:ext cx="990600" cy="990600"/>
          </a:xfrm>
          <a:prstGeom prst="ellipse">
            <a:avLst/>
          </a:prstGeom>
          <a:noFill/>
          <a:ln w="203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524000" y="2471166"/>
            <a:ext cx="0" cy="386334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499235" y="28327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338137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q1</a:t>
            </a:r>
          </a:p>
        </p:txBody>
      </p:sp>
      <p:sp>
        <p:nvSpPr>
          <p:cNvPr id="18" name="Oval 17"/>
          <p:cNvSpPr/>
          <p:nvPr/>
        </p:nvSpPr>
        <p:spPr>
          <a:xfrm>
            <a:off x="2305050" y="2362200"/>
            <a:ext cx="990600" cy="990600"/>
          </a:xfrm>
          <a:prstGeom prst="ellipse">
            <a:avLst/>
          </a:prstGeom>
          <a:noFill/>
          <a:ln w="203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2800350" y="2553065"/>
            <a:ext cx="237851" cy="304435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775585" y="28327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8350" y="338137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q2</a:t>
            </a:r>
          </a:p>
        </p:txBody>
      </p:sp>
      <p:sp>
        <p:nvSpPr>
          <p:cNvPr id="22" name="Oval 21"/>
          <p:cNvSpPr/>
          <p:nvPr/>
        </p:nvSpPr>
        <p:spPr>
          <a:xfrm>
            <a:off x="3581400" y="2362200"/>
            <a:ext cx="990600" cy="990600"/>
          </a:xfrm>
          <a:prstGeom prst="ellipse">
            <a:avLst/>
          </a:prstGeom>
          <a:noFill/>
          <a:ln w="203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076700" y="2857500"/>
            <a:ext cx="367425" cy="119384"/>
          </a:xfrm>
          <a:prstGeom prst="line">
            <a:avLst/>
          </a:prstGeom>
          <a:ln w="3048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051935" y="2832735"/>
            <a:ext cx="49530" cy="4953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14700" y="338137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43750" y="3810000"/>
            <a:ext cx="3048000" cy="0"/>
          </a:xfrm>
          <a:prstGeom prst="line">
            <a:avLst/>
          </a:prstGeom>
          <a:ln w="22860">
            <a:solidFill>
              <a:srgbClr val="1A223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572500" y="2190750"/>
            <a:ext cx="0" cy="3048000"/>
          </a:xfrm>
          <a:prstGeom prst="line">
            <a:avLst/>
          </a:prstGeom>
          <a:ln w="22860">
            <a:solidFill>
              <a:srgbClr val="1A223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201275" y="3724275"/>
            <a:ext cx="476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6275" y="1781175"/>
            <a:ext cx="476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y</a:t>
            </a:r>
          </a:p>
        </p:txBody>
      </p:sp>
      <p:sp>
        <p:nvSpPr>
          <p:cNvPr id="30" name="Oval 29"/>
          <p:cNvSpPr/>
          <p:nvPr/>
        </p:nvSpPr>
        <p:spPr>
          <a:xfrm>
            <a:off x="9515475" y="2695575"/>
            <a:ext cx="171450" cy="17145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8572500" y="2781300"/>
            <a:ext cx="1028700" cy="1028700"/>
          </a:xfrm>
          <a:prstGeom prst="line">
            <a:avLst/>
          </a:prstGeom>
          <a:ln w="25400">
            <a:solidFill>
              <a:srgbClr val="D9534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820275" y="24288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(x, 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3475" y="406717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末端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29250" y="3409950"/>
            <a:ext cx="1352550" cy="0"/>
          </a:xfrm>
          <a:prstGeom prst="line">
            <a:avLst/>
          </a:prstGeom>
          <a:ln w="38100">
            <a:solidFill>
              <a:srgbClr val="1E4FA8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5429250" y="4305300"/>
            <a:ext cx="1352550" cy="0"/>
          </a:xfrm>
          <a:prstGeom prst="line">
            <a:avLst/>
          </a:prstGeom>
          <a:ln w="38100">
            <a:solidFill>
              <a:srgbClr val="3D7BD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343525" y="29432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角度 → 位置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3525" y="452437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D7BD9"/>
                </a:solidFill>
                <a:latin typeface="Microsoft YaHei"/>
                <a:ea typeface="Microsoft YaHei"/>
                <a:cs typeface="Microsoft YaHei"/>
              </a:rPr>
              <a:t>位置 → 角度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两个方向，难度完全不同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M1 · 第 1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06 /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905000"/>
            <a:ext cx="4000500" cy="1428750"/>
          </a:xfrm>
          <a:prstGeom prst="roundRect">
            <a:avLst>
              <a:gd name="adj" fmla="val 12000"/>
            </a:avLst>
          </a:prstGeom>
          <a:solidFill>
            <a:srgbClr val="F4F8FD"/>
          </a:solidFill>
          <a:ln w="2032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0" y="1905000"/>
            <a:ext cx="4000500" cy="1428750"/>
          </a:xfrm>
          <a:prstGeom prst="roundRect">
            <a:avLst>
              <a:gd name="adj" fmla="val 12000"/>
            </a:avLst>
          </a:prstGeom>
          <a:solidFill>
            <a:srgbClr val="F4F8FD"/>
          </a:solidFill>
          <a:ln w="2032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2209800"/>
            <a:ext cx="4000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关节空间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2667000"/>
            <a:ext cx="4000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(q1, q2, …, q6)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2209800"/>
            <a:ext cx="4000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笛卡尔空间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2667000"/>
            <a:ext cx="4000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(x, y, z)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29150" y="2209800"/>
            <a:ext cx="2933700" cy="0"/>
          </a:xfrm>
          <a:prstGeom prst="line">
            <a:avLst/>
          </a:prstGeom>
          <a:ln w="43180">
            <a:solidFill>
              <a:srgbClr val="1E4FA8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629150" y="3048000"/>
            <a:ext cx="2933700" cy="0"/>
          </a:xfrm>
          <a:prstGeom prst="line">
            <a:avLst/>
          </a:prstGeom>
          <a:ln w="43180">
            <a:solidFill>
              <a:srgbClr val="D9534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57750" y="1800225"/>
            <a:ext cx="2476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正运动学  FK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7750" y="3228975"/>
            <a:ext cx="2476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逆运动学  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3500" y="2428875"/>
            <a:ext cx="1905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结果唯一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750" y="3571875"/>
            <a:ext cx="2476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结果常常不止一个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4305300"/>
            <a:ext cx="1104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已知角度 → 算位置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4876800"/>
            <a:ext cx="1104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已知位置 → 算角度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762500"/>
            <a:ext cx="3048000" cy="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两台机器人的“臂展”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M1 · 第 1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07 / 21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560832" y="2481072"/>
            <a:ext cx="192024" cy="411480"/>
          </a:xfrm>
          <a:prstGeom prst="line">
            <a:avLst/>
          </a:prstGeom>
          <a:ln w="64008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2856" y="2481072"/>
            <a:ext cx="329184" cy="123444"/>
          </a:xfrm>
          <a:prstGeom prst="line">
            <a:avLst/>
          </a:prstGeom>
          <a:ln w="54864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2040" y="2343912"/>
            <a:ext cx="123444" cy="260604"/>
          </a:xfrm>
          <a:prstGeom prst="line">
            <a:avLst/>
          </a:prstGeom>
          <a:ln w="45719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12826" y="2844546"/>
            <a:ext cx="96012" cy="96012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1708" y="2439924"/>
            <a:ext cx="82296" cy="82296"/>
          </a:xfrm>
          <a:prstGeom prst="ellipse">
            <a:avLst/>
          </a:prstGeom>
          <a:solidFill>
            <a:srgbClr val="3D7BD9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7750" y="2570226"/>
            <a:ext cx="68580" cy="68580"/>
          </a:xfrm>
          <a:prstGeom prst="ellips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64336" y="2302764"/>
            <a:ext cx="82296" cy="82296"/>
          </a:xfrm>
          <a:prstGeom prst="ellipse">
            <a:avLst/>
          </a:prstGeom>
          <a:solidFill>
            <a:srgbClr val="1E4FA8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050" y="3152775"/>
            <a:ext cx="952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UR5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09869" y="2857500"/>
            <a:ext cx="8400842" cy="4191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209869" y="2724150"/>
            <a:ext cx="0" cy="685800"/>
          </a:xfrm>
          <a:prstGeom prst="line">
            <a:avLst/>
          </a:prstGeom>
          <a:ln w="2032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10711" y="2724150"/>
            <a:ext cx="0" cy="685800"/>
          </a:xfrm>
          <a:prstGeom prst="line">
            <a:avLst/>
          </a:prstGeom>
          <a:ln w="2032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81540" y="2428875"/>
            <a:ext cx="2857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0.036  →  1.028 m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22173" y="3683508"/>
            <a:ext cx="154686" cy="331470"/>
          </a:xfrm>
          <a:prstGeom prst="line">
            <a:avLst/>
          </a:prstGeom>
          <a:ln w="51561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76859" y="3683508"/>
            <a:ext cx="265176" cy="99441"/>
          </a:xfrm>
          <a:prstGeom prst="line">
            <a:avLst/>
          </a:prstGeom>
          <a:ln w="44195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42035" y="3573018"/>
            <a:ext cx="99441" cy="209931"/>
          </a:xfrm>
          <a:prstGeom prst="line">
            <a:avLst/>
          </a:prstGeom>
          <a:ln w="3683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83501" y="3976306"/>
            <a:ext cx="77343" cy="77343"/>
          </a:xfrm>
          <a:prstGeom prst="ellips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3712" y="3650361"/>
            <a:ext cx="66294" cy="66294"/>
          </a:xfrm>
          <a:prstGeom prst="ellipse">
            <a:avLst/>
          </a:prstGeom>
          <a:solidFill>
            <a:srgbClr val="3D7BD9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4412" y="3755327"/>
            <a:ext cx="55245" cy="55245"/>
          </a:xfrm>
          <a:prstGeom prst="ellips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8329" y="3539871"/>
            <a:ext cx="66294" cy="66294"/>
          </a:xfrm>
          <a:prstGeom prst="ellipse">
            <a:avLst/>
          </a:prstGeom>
          <a:solidFill>
            <a:srgbClr val="3D7BD9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0050" y="4181475"/>
            <a:ext cx="952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3D7BD9"/>
                </a:solidFill>
                <a:latin typeface="Times New Roman"/>
                <a:ea typeface="Times New Roman"/>
                <a:cs typeface="Times New Roman"/>
              </a:rPr>
              <a:t>R1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15092" y="3619500"/>
            <a:ext cx="4479885" cy="381000"/>
          </a:xfrm>
          <a:prstGeom prst="roundRect">
            <a:avLst>
              <a:gd name="adj" fmla="val 28000"/>
            </a:avLst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2015092" y="3505200"/>
            <a:ext cx="0" cy="533400"/>
          </a:xfrm>
          <a:prstGeom prst="line">
            <a:avLst/>
          </a:prstGeom>
          <a:ln w="1778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94976" y="3505200"/>
            <a:ext cx="0" cy="533400"/>
          </a:xfrm>
          <a:prstGeom prst="line">
            <a:avLst/>
          </a:prstGeom>
          <a:ln w="1778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666426" y="3657600"/>
            <a:ext cx="3048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3D7BD9"/>
                </a:solidFill>
                <a:latin typeface="Times New Roman"/>
                <a:ea typeface="Times New Roman"/>
                <a:cs typeface="Times New Roman"/>
              </a:rPr>
              <a:t>0.013 → 0.542 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94976" y="2743200"/>
            <a:ext cx="0" cy="1371600"/>
          </a:xfrm>
          <a:prstGeom prst="line">
            <a:avLst/>
          </a:prstGeom>
          <a:ln w="17780">
            <a:solidFill>
              <a:srgbClr val="D9534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828226" y="1552575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R1 的极限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485900" y="4857750"/>
            <a:ext cx="10058400" cy="0"/>
          </a:xfrm>
          <a:prstGeom prst="line">
            <a:avLst/>
          </a:prstGeom>
          <a:ln w="22860">
            <a:solidFill>
              <a:srgbClr val="4A556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905000" y="4857750"/>
            <a:ext cx="0" cy="9525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619250" y="50196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598718" y="4857750"/>
            <a:ext cx="0" cy="9525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312968" y="50196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0.2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92436" y="4857750"/>
            <a:ext cx="0" cy="9525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06686" y="50196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986155" y="4857750"/>
            <a:ext cx="0" cy="9525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00405" y="50196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79873" y="4857750"/>
            <a:ext cx="0" cy="9525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394123" y="50196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0.8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73591" y="4857750"/>
            <a:ext cx="0" cy="9525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087841" y="50196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1.0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3475" y="5324475"/>
            <a:ext cx="3238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末端到原点的距离 r / 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1352550"/>
            <a:ext cx="5143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R1 的可达范围完全落在 UR5 之内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2450" y="914400"/>
            <a:ext cx="4000500" cy="285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1000" b="1">
                <a:solidFill>
                  <a:srgbClr val="1651A8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733800"/>
            <a:ext cx="762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单位圆与“角度坐标”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550" y="4610100"/>
            <a:ext cx="8001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1500" y="4876800"/>
            <a:ext cx="203835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4876800"/>
            <a:ext cx="20383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sin / cos 就是坐标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4876800"/>
            <a:ext cx="100965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4876800"/>
            <a:ext cx="10096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弧度制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4876800"/>
            <a:ext cx="100965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4876800"/>
            <a:ext cx="10096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atan2</a:t>
            </a:r>
          </a:p>
        </p:txBody>
      </p:sp>
      <p:sp>
        <p:nvSpPr>
          <p:cNvPr id="12" name="Oval 11"/>
          <p:cNvSpPr/>
          <p:nvPr/>
        </p:nvSpPr>
        <p:spPr>
          <a:xfrm>
            <a:off x="7696200" y="1409700"/>
            <a:ext cx="2895600" cy="2895600"/>
          </a:xfrm>
          <a:prstGeom prst="ellipse">
            <a:avLst/>
          </a:prstGeom>
          <a:noFill/>
          <a:ln w="3810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9144000" y="1716618"/>
            <a:ext cx="891355" cy="1140882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035355" y="1716618"/>
            <a:ext cx="0" cy="1140882"/>
          </a:xfrm>
          <a:prstGeom prst="line">
            <a:avLst/>
          </a:prstGeom>
          <a:ln w="15240">
            <a:solidFill>
              <a:srgbClr val="3D7B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9144000" y="1716618"/>
            <a:ext cx="891355" cy="0"/>
          </a:xfrm>
          <a:prstGeom prst="line">
            <a:avLst/>
          </a:prstGeom>
          <a:ln w="15240">
            <a:solidFill>
              <a:srgbClr val="3D7B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992492" y="1673756"/>
            <a:ext cx="85725" cy="85725"/>
          </a:xfrm>
          <a:prstGeom prst="ellips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447061" y="2469600"/>
            <a:ext cx="189191" cy="387900"/>
          </a:xfrm>
          <a:custGeom>
            <a:avLst/>
            <a:gdLst/>
            <a:ahLst/>
            <a:cxnLst/>
            <a:rect l="l" t="t" r="r" b="b"/>
            <a:pathLst>
              <a:path w="189191" h="387900">
                <a:moveTo>
                  <a:pt x="189191" y="387900"/>
                </a:moveTo>
                <a:lnTo>
                  <a:pt x="189064" y="376732"/>
                </a:lnTo>
                <a:lnTo>
                  <a:pt x="188684" y="365570"/>
                </a:lnTo>
                <a:lnTo>
                  <a:pt x="188051" y="354419"/>
                </a:lnTo>
                <a:lnTo>
                  <a:pt x="187165" y="343286"/>
                </a:lnTo>
                <a:lnTo>
                  <a:pt x="186027" y="332175"/>
                </a:lnTo>
                <a:lnTo>
                  <a:pt x="184637" y="321094"/>
                </a:lnTo>
                <a:lnTo>
                  <a:pt x="182995" y="310046"/>
                </a:lnTo>
                <a:lnTo>
                  <a:pt x="181104" y="299039"/>
                </a:lnTo>
                <a:lnTo>
                  <a:pt x="178963" y="288078"/>
                </a:lnTo>
                <a:lnTo>
                  <a:pt x="176575" y="277167"/>
                </a:lnTo>
                <a:lnTo>
                  <a:pt x="173939" y="266314"/>
                </a:lnTo>
                <a:lnTo>
                  <a:pt x="171058" y="255524"/>
                </a:lnTo>
                <a:lnTo>
                  <a:pt x="167932" y="244801"/>
                </a:lnTo>
                <a:lnTo>
                  <a:pt x="164565" y="234153"/>
                </a:lnTo>
                <a:lnTo>
                  <a:pt x="160956" y="223583"/>
                </a:lnTo>
                <a:lnTo>
                  <a:pt x="157109" y="213098"/>
                </a:lnTo>
                <a:lnTo>
                  <a:pt x="153025" y="202703"/>
                </a:lnTo>
                <a:lnTo>
                  <a:pt x="148706" y="192403"/>
                </a:lnTo>
                <a:lnTo>
                  <a:pt x="144154" y="182204"/>
                </a:lnTo>
                <a:lnTo>
                  <a:pt x="139372" y="172111"/>
                </a:lnTo>
                <a:lnTo>
                  <a:pt x="134363" y="162129"/>
                </a:lnTo>
                <a:lnTo>
                  <a:pt x="129128" y="152263"/>
                </a:lnTo>
                <a:lnTo>
                  <a:pt x="123671" y="142518"/>
                </a:lnTo>
                <a:lnTo>
                  <a:pt x="117994" y="132900"/>
                </a:lnTo>
                <a:lnTo>
                  <a:pt x="112100" y="123413"/>
                </a:lnTo>
                <a:lnTo>
                  <a:pt x="105993" y="114062"/>
                </a:lnTo>
                <a:lnTo>
                  <a:pt x="99675" y="104853"/>
                </a:lnTo>
                <a:lnTo>
                  <a:pt x="93150" y="95788"/>
                </a:lnTo>
                <a:lnTo>
                  <a:pt x="86420" y="86875"/>
                </a:lnTo>
                <a:lnTo>
                  <a:pt x="79491" y="78116"/>
                </a:lnTo>
                <a:lnTo>
                  <a:pt x="72364" y="69516"/>
                </a:lnTo>
                <a:lnTo>
                  <a:pt x="65044" y="61081"/>
                </a:lnTo>
                <a:lnTo>
                  <a:pt x="57535" y="52814"/>
                </a:lnTo>
                <a:lnTo>
                  <a:pt x="49840" y="44719"/>
                </a:lnTo>
                <a:lnTo>
                  <a:pt x="41963" y="36801"/>
                </a:lnTo>
                <a:lnTo>
                  <a:pt x="33909" y="29064"/>
                </a:lnTo>
                <a:lnTo>
                  <a:pt x="25681" y="21511"/>
                </a:lnTo>
                <a:lnTo>
                  <a:pt x="17284" y="14147"/>
                </a:lnTo>
                <a:lnTo>
                  <a:pt x="8722" y="6976"/>
                </a:lnTo>
                <a:lnTo>
                  <a:pt x="0" y="0"/>
                </a:lnTo>
              </a:path>
            </a:pathLst>
          </a:cu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11615" y="2825115"/>
            <a:ext cx="64770" cy="64770"/>
          </a:xfrm>
          <a:prstGeom prst="ellipse">
            <a:avLst/>
          </a:prstGeom>
          <a:solidFill>
            <a:srgbClr val="CF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E95C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08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723900"/>
            <a:ext cx="12192000" cy="0"/>
          </a:xfrm>
          <a:prstGeom prst="line">
            <a:avLst/>
          </a:prstGeom>
          <a:ln w="15240">
            <a:solidFill>
              <a:srgbClr val="1651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单位圆就是“坐标表”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M2 · 第 2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E95C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09 / 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62250" y="3543300"/>
            <a:ext cx="6381750" cy="0"/>
          </a:xfrm>
          <a:prstGeom prst="line">
            <a:avLst/>
          </a:prstGeom>
          <a:ln w="17780">
            <a:solidFill>
              <a:srgbClr val="6E9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905500" y="1066800"/>
            <a:ext cx="0" cy="4857750"/>
          </a:xfrm>
          <a:prstGeom prst="line">
            <a:avLst/>
          </a:prstGeom>
          <a:ln w="17780">
            <a:solidFill>
              <a:srgbClr val="6E9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714750" y="1352550"/>
            <a:ext cx="4381500" cy="4381500"/>
          </a:xfrm>
          <a:prstGeom prst="ellipse">
            <a:avLst/>
          </a:prstGeom>
          <a:noFill/>
          <a:ln w="3810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2200" y="3209925"/>
            <a:ext cx="5334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E95C8"/>
                </a:solidFill>
                <a:latin typeface="Times New Roman"/>
                <a:ea typeface="Times New Roman"/>
                <a:cs typeface="Times New Roman"/>
              </a:rPr>
              <a:t>−1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2550" y="3209925"/>
            <a:ext cx="5334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E95C8"/>
                </a:solidFill>
                <a:latin typeface="Times New Roman"/>
                <a:ea typeface="Times New Roman"/>
                <a:cs typeface="Times New Roman"/>
              </a:rPr>
              <a:t>+1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5905500" y="1816965"/>
            <a:ext cx="1348760" cy="1726335"/>
          </a:xfrm>
          <a:prstGeom prst="line">
            <a:avLst/>
          </a:prstGeom>
          <a:ln w="508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54260" y="1816965"/>
            <a:ext cx="0" cy="1726335"/>
          </a:xfrm>
          <a:prstGeom prst="line">
            <a:avLst/>
          </a:prstGeom>
          <a:ln w="25400">
            <a:solidFill>
              <a:srgbClr val="9F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905500" y="1816965"/>
            <a:ext cx="1348760" cy="0"/>
          </a:xfrm>
          <a:prstGeom prst="line">
            <a:avLst/>
          </a:prstGeom>
          <a:ln w="25400">
            <a:solidFill>
              <a:srgbClr val="9F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6386362" y="2927824"/>
            <a:ext cx="300188" cy="615476"/>
          </a:xfrm>
          <a:custGeom>
            <a:avLst/>
            <a:gdLst/>
            <a:ahLst/>
            <a:cxnLst/>
            <a:rect l="l" t="t" r="r" b="b"/>
            <a:pathLst>
              <a:path w="300188" h="615476">
                <a:moveTo>
                  <a:pt x="300188" y="615476"/>
                </a:moveTo>
                <a:lnTo>
                  <a:pt x="299987" y="597756"/>
                </a:lnTo>
                <a:lnTo>
                  <a:pt x="299384" y="580045"/>
                </a:lnTo>
                <a:lnTo>
                  <a:pt x="298379" y="562353"/>
                </a:lnTo>
                <a:lnTo>
                  <a:pt x="296974" y="544687"/>
                </a:lnTo>
                <a:lnTo>
                  <a:pt x="295167" y="527059"/>
                </a:lnTo>
                <a:lnTo>
                  <a:pt x="292962" y="509475"/>
                </a:lnTo>
                <a:lnTo>
                  <a:pt x="290358" y="491947"/>
                </a:lnTo>
                <a:lnTo>
                  <a:pt x="287356" y="474482"/>
                </a:lnTo>
                <a:lnTo>
                  <a:pt x="283960" y="457089"/>
                </a:lnTo>
                <a:lnTo>
                  <a:pt x="280170" y="439778"/>
                </a:lnTo>
                <a:lnTo>
                  <a:pt x="275988" y="422557"/>
                </a:lnTo>
                <a:lnTo>
                  <a:pt x="271416" y="405436"/>
                </a:lnTo>
                <a:lnTo>
                  <a:pt x="266457" y="388423"/>
                </a:lnTo>
                <a:lnTo>
                  <a:pt x="261114" y="371527"/>
                </a:lnTo>
                <a:lnTo>
                  <a:pt x="255388" y="354756"/>
                </a:lnTo>
                <a:lnTo>
                  <a:pt x="249284" y="338120"/>
                </a:lnTo>
                <a:lnTo>
                  <a:pt x="242803" y="321626"/>
                </a:lnTo>
                <a:lnTo>
                  <a:pt x="235950" y="305284"/>
                </a:lnTo>
                <a:lnTo>
                  <a:pt x="228728" y="289101"/>
                </a:lnTo>
                <a:lnTo>
                  <a:pt x="221141" y="273086"/>
                </a:lnTo>
                <a:lnTo>
                  <a:pt x="213192" y="257248"/>
                </a:lnTo>
                <a:lnTo>
                  <a:pt x="204887" y="241594"/>
                </a:lnTo>
                <a:lnTo>
                  <a:pt x="196228" y="226132"/>
                </a:lnTo>
                <a:lnTo>
                  <a:pt x="187220" y="210871"/>
                </a:lnTo>
                <a:lnTo>
                  <a:pt x="177869" y="195818"/>
                </a:lnTo>
                <a:lnTo>
                  <a:pt x="168178" y="180981"/>
                </a:lnTo>
                <a:lnTo>
                  <a:pt x="158154" y="166368"/>
                </a:lnTo>
                <a:lnTo>
                  <a:pt x="147800" y="151986"/>
                </a:lnTo>
                <a:lnTo>
                  <a:pt x="137123" y="137843"/>
                </a:lnTo>
                <a:lnTo>
                  <a:pt x="126128" y="123945"/>
                </a:lnTo>
                <a:lnTo>
                  <a:pt x="114820" y="110301"/>
                </a:lnTo>
                <a:lnTo>
                  <a:pt x="103206" y="96916"/>
                </a:lnTo>
                <a:lnTo>
                  <a:pt x="91291" y="83799"/>
                </a:lnTo>
                <a:lnTo>
                  <a:pt x="79081" y="70955"/>
                </a:lnTo>
                <a:lnTo>
                  <a:pt x="66583" y="58392"/>
                </a:lnTo>
                <a:lnTo>
                  <a:pt x="53804" y="46115"/>
                </a:lnTo>
                <a:lnTo>
                  <a:pt x="40749" y="34131"/>
                </a:lnTo>
                <a:lnTo>
                  <a:pt x="27425" y="22447"/>
                </a:lnTo>
                <a:lnTo>
                  <a:pt x="13840" y="11068"/>
                </a:lnTo>
                <a:lnTo>
                  <a:pt x="0" y="0"/>
                </a:lnTo>
              </a:path>
            </a:pathLst>
          </a:custGeom>
          <a:noFill/>
          <a:ln w="3048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48350" y="3486150"/>
            <a:ext cx="114300" cy="114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49485" y="1712190"/>
            <a:ext cx="209550" cy="209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29622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8560" y="1845540"/>
            <a:ext cx="2667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 (cos θ, sin 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3130" y="3686175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cos 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1050" y="2556308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sin 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5676900"/>
            <a:ext cx="11049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 = cos θ      y = sin 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把半径从 1 放大到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M2 · 第 2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10 / 21</a:t>
            </a:r>
          </a:p>
        </p:txBody>
      </p:sp>
      <p:sp>
        <p:nvSpPr>
          <p:cNvPr id="8" name="Oval 7"/>
          <p:cNvSpPr/>
          <p:nvPr/>
        </p:nvSpPr>
        <p:spPr>
          <a:xfrm>
            <a:off x="2152650" y="2552700"/>
            <a:ext cx="1981200" cy="1981200"/>
          </a:xfrm>
          <a:prstGeom prst="ellipse">
            <a:avLst/>
          </a:prstGeom>
          <a:noFill/>
          <a:ln w="330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3143250" y="2762697"/>
            <a:ext cx="609874" cy="780603"/>
          </a:xfrm>
          <a:prstGeom prst="line">
            <a:avLst/>
          </a:prstGeom>
          <a:ln w="254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53124" y="2762697"/>
            <a:ext cx="0" cy="780603"/>
          </a:xfrm>
          <a:prstGeom prst="line">
            <a:avLst/>
          </a:prstGeom>
          <a:ln w="15240">
            <a:solidFill>
              <a:srgbClr val="1E4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143250" y="2762697"/>
            <a:ext cx="609874" cy="0"/>
          </a:xfrm>
          <a:prstGeom prst="line">
            <a:avLst/>
          </a:prstGeom>
          <a:ln w="15240">
            <a:solidFill>
              <a:srgbClr val="1E4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710262" y="2719834"/>
            <a:ext cx="85725" cy="85725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3350607" y="3277895"/>
            <a:ext cx="129447" cy="265405"/>
          </a:xfrm>
          <a:custGeom>
            <a:avLst/>
            <a:gdLst/>
            <a:ahLst/>
            <a:cxnLst/>
            <a:rect l="l" t="t" r="r" b="b"/>
            <a:pathLst>
              <a:path w="129447" h="265405">
                <a:moveTo>
                  <a:pt x="129447" y="265405"/>
                </a:moveTo>
                <a:lnTo>
                  <a:pt x="129360" y="257764"/>
                </a:lnTo>
                <a:lnTo>
                  <a:pt x="129100" y="250127"/>
                </a:lnTo>
                <a:lnTo>
                  <a:pt x="128667" y="242497"/>
                </a:lnTo>
                <a:lnTo>
                  <a:pt x="128061" y="234880"/>
                </a:lnTo>
                <a:lnTo>
                  <a:pt x="127282" y="227278"/>
                </a:lnTo>
                <a:lnTo>
                  <a:pt x="126331" y="219695"/>
                </a:lnTo>
                <a:lnTo>
                  <a:pt x="125208" y="212137"/>
                </a:lnTo>
                <a:lnTo>
                  <a:pt x="123914" y="204605"/>
                </a:lnTo>
                <a:lnTo>
                  <a:pt x="122449" y="197105"/>
                </a:lnTo>
                <a:lnTo>
                  <a:pt x="120815" y="189641"/>
                </a:lnTo>
                <a:lnTo>
                  <a:pt x="119011" y="182215"/>
                </a:lnTo>
                <a:lnTo>
                  <a:pt x="117040" y="174832"/>
                </a:lnTo>
                <a:lnTo>
                  <a:pt x="114902" y="167495"/>
                </a:lnTo>
                <a:lnTo>
                  <a:pt x="112597" y="160209"/>
                </a:lnTo>
                <a:lnTo>
                  <a:pt x="110128" y="152978"/>
                </a:lnTo>
                <a:lnTo>
                  <a:pt x="107496" y="145804"/>
                </a:lnTo>
                <a:lnTo>
                  <a:pt x="104702" y="138691"/>
                </a:lnTo>
                <a:lnTo>
                  <a:pt x="101746" y="131644"/>
                </a:lnTo>
                <a:lnTo>
                  <a:pt x="98632" y="124666"/>
                </a:lnTo>
                <a:lnTo>
                  <a:pt x="95360" y="117760"/>
                </a:lnTo>
                <a:lnTo>
                  <a:pt x="91933" y="110930"/>
                </a:lnTo>
                <a:lnTo>
                  <a:pt x="88351" y="104180"/>
                </a:lnTo>
                <a:lnTo>
                  <a:pt x="84617" y="97512"/>
                </a:lnTo>
                <a:lnTo>
                  <a:pt x="80733" y="90931"/>
                </a:lnTo>
                <a:lnTo>
                  <a:pt x="76701" y="84440"/>
                </a:lnTo>
                <a:lnTo>
                  <a:pt x="72522" y="78042"/>
                </a:lnTo>
                <a:lnTo>
                  <a:pt x="68199" y="71741"/>
                </a:lnTo>
                <a:lnTo>
                  <a:pt x="63734" y="65539"/>
                </a:lnTo>
                <a:lnTo>
                  <a:pt x="59130" y="59440"/>
                </a:lnTo>
                <a:lnTo>
                  <a:pt x="54389" y="53447"/>
                </a:lnTo>
                <a:lnTo>
                  <a:pt x="49513" y="47564"/>
                </a:lnTo>
                <a:lnTo>
                  <a:pt x="44504" y="41792"/>
                </a:lnTo>
                <a:lnTo>
                  <a:pt x="39366" y="36135"/>
                </a:lnTo>
                <a:lnTo>
                  <a:pt x="34101" y="30597"/>
                </a:lnTo>
                <a:lnTo>
                  <a:pt x="28712" y="25179"/>
                </a:lnTo>
                <a:lnTo>
                  <a:pt x="23201" y="19885"/>
                </a:lnTo>
                <a:lnTo>
                  <a:pt x="17572" y="14718"/>
                </a:lnTo>
                <a:lnTo>
                  <a:pt x="11826" y="9679"/>
                </a:lnTo>
                <a:lnTo>
                  <a:pt x="5968" y="4773"/>
                </a:lnTo>
                <a:lnTo>
                  <a:pt x="0" y="0"/>
                </a:lnTo>
              </a:path>
            </a:pathLst>
          </a:custGeom>
          <a:noFill/>
          <a:ln w="203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1250" y="4810125"/>
            <a:ext cx="1524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半径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050" y="2619375"/>
            <a:ext cx="2095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(cos θ, sin θ)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2500" y="3543300"/>
            <a:ext cx="1333500" cy="0"/>
          </a:xfrm>
          <a:prstGeom prst="line">
            <a:avLst/>
          </a:prstGeom>
          <a:ln w="40640">
            <a:solidFill>
              <a:srgbClr val="1E4FA8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05375" y="3133725"/>
            <a:ext cx="1047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× L</a:t>
            </a:r>
          </a:p>
        </p:txBody>
      </p:sp>
      <p:sp>
        <p:nvSpPr>
          <p:cNvPr id="18" name="Oval 17"/>
          <p:cNvSpPr/>
          <p:nvPr/>
        </p:nvSpPr>
        <p:spPr>
          <a:xfrm>
            <a:off x="6667500" y="1352550"/>
            <a:ext cx="4381500" cy="4381500"/>
          </a:xfrm>
          <a:prstGeom prst="ellipse">
            <a:avLst/>
          </a:prstGeom>
          <a:noFill/>
          <a:ln w="3810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86500" y="3543300"/>
            <a:ext cx="5238750" cy="0"/>
          </a:xfrm>
          <a:prstGeom prst="line">
            <a:avLst/>
          </a:prstGeom>
          <a:ln w="17780">
            <a:solidFill>
              <a:srgbClr val="8B97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858250" y="1066800"/>
            <a:ext cx="0" cy="4857750"/>
          </a:xfrm>
          <a:prstGeom prst="line">
            <a:avLst/>
          </a:prstGeom>
          <a:ln w="17780">
            <a:solidFill>
              <a:srgbClr val="8B97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858250" y="1816965"/>
            <a:ext cx="1348760" cy="1726335"/>
          </a:xfrm>
          <a:prstGeom prst="line">
            <a:avLst/>
          </a:prstGeom>
          <a:ln w="5334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207010" y="1816965"/>
            <a:ext cx="0" cy="1726335"/>
          </a:xfrm>
          <a:prstGeom prst="line">
            <a:avLst/>
          </a:prstGeom>
          <a:ln w="22860">
            <a:solidFill>
              <a:srgbClr val="3D7B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8858250" y="1816965"/>
            <a:ext cx="1348760" cy="0"/>
          </a:xfrm>
          <a:prstGeom prst="line">
            <a:avLst/>
          </a:prstGeom>
          <a:ln w="22860">
            <a:solidFill>
              <a:srgbClr val="3D7B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9315656" y="2957847"/>
            <a:ext cx="285544" cy="585453"/>
          </a:xfrm>
          <a:custGeom>
            <a:avLst/>
            <a:gdLst/>
            <a:ahLst/>
            <a:cxnLst/>
            <a:rect l="l" t="t" r="r" b="b"/>
            <a:pathLst>
              <a:path w="285544" h="585453">
                <a:moveTo>
                  <a:pt x="285544" y="585453"/>
                </a:moveTo>
                <a:lnTo>
                  <a:pt x="285353" y="568597"/>
                </a:lnTo>
                <a:lnTo>
                  <a:pt x="284779" y="551751"/>
                </a:lnTo>
                <a:lnTo>
                  <a:pt x="283824" y="534921"/>
                </a:lnTo>
                <a:lnTo>
                  <a:pt x="282486" y="518118"/>
                </a:lnTo>
                <a:lnTo>
                  <a:pt x="280768" y="501349"/>
                </a:lnTo>
                <a:lnTo>
                  <a:pt x="278670" y="484623"/>
                </a:lnTo>
                <a:lnTo>
                  <a:pt x="276193" y="467949"/>
                </a:lnTo>
                <a:lnTo>
                  <a:pt x="273338" y="451336"/>
                </a:lnTo>
                <a:lnTo>
                  <a:pt x="270108" y="434792"/>
                </a:lnTo>
                <a:lnTo>
                  <a:pt x="266502" y="418326"/>
                </a:lnTo>
                <a:lnTo>
                  <a:pt x="262524" y="401945"/>
                </a:lnTo>
                <a:lnTo>
                  <a:pt x="258176" y="385659"/>
                </a:lnTo>
                <a:lnTo>
                  <a:pt x="253459" y="369476"/>
                </a:lnTo>
                <a:lnTo>
                  <a:pt x="248376" y="353404"/>
                </a:lnTo>
                <a:lnTo>
                  <a:pt x="242929" y="337451"/>
                </a:lnTo>
                <a:lnTo>
                  <a:pt x="237123" y="321626"/>
                </a:lnTo>
                <a:lnTo>
                  <a:pt x="230958" y="305937"/>
                </a:lnTo>
                <a:lnTo>
                  <a:pt x="224440" y="290392"/>
                </a:lnTo>
                <a:lnTo>
                  <a:pt x="217570" y="274999"/>
                </a:lnTo>
                <a:lnTo>
                  <a:pt x="210353" y="259765"/>
                </a:lnTo>
                <a:lnTo>
                  <a:pt x="202792" y="244699"/>
                </a:lnTo>
                <a:lnTo>
                  <a:pt x="194891" y="229809"/>
                </a:lnTo>
                <a:lnTo>
                  <a:pt x="186655" y="215102"/>
                </a:lnTo>
                <a:lnTo>
                  <a:pt x="178087" y="200585"/>
                </a:lnTo>
                <a:lnTo>
                  <a:pt x="169192" y="186266"/>
                </a:lnTo>
                <a:lnTo>
                  <a:pt x="159974" y="172153"/>
                </a:lnTo>
                <a:lnTo>
                  <a:pt x="150438" y="158253"/>
                </a:lnTo>
                <a:lnTo>
                  <a:pt x="140590" y="144572"/>
                </a:lnTo>
                <a:lnTo>
                  <a:pt x="130434" y="131119"/>
                </a:lnTo>
                <a:lnTo>
                  <a:pt x="119975" y="117899"/>
                </a:lnTo>
                <a:lnTo>
                  <a:pt x="109218" y="104921"/>
                </a:lnTo>
                <a:lnTo>
                  <a:pt x="98171" y="92189"/>
                </a:lnTo>
                <a:lnTo>
                  <a:pt x="86837" y="79711"/>
                </a:lnTo>
                <a:lnTo>
                  <a:pt x="75223" y="67494"/>
                </a:lnTo>
                <a:lnTo>
                  <a:pt x="63335" y="55544"/>
                </a:lnTo>
                <a:lnTo>
                  <a:pt x="51178" y="43866"/>
                </a:lnTo>
                <a:lnTo>
                  <a:pt x="38760" y="32467"/>
                </a:lnTo>
                <a:lnTo>
                  <a:pt x="26087" y="21352"/>
                </a:lnTo>
                <a:lnTo>
                  <a:pt x="13164" y="10528"/>
                </a:lnTo>
                <a:lnTo>
                  <a:pt x="0" y="0"/>
                </a:lnTo>
              </a:path>
            </a:pathLst>
          </a:custGeom>
          <a:noFill/>
          <a:ln w="3048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01100" y="3486150"/>
            <a:ext cx="114300" cy="1143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11760" y="1721715"/>
            <a:ext cx="190500" cy="1905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1155" y="2346758"/>
            <a:ext cx="476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9750" y="1304925"/>
            <a:ext cx="2667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(L·cos θ, L·sin θ)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9700" y="2943225"/>
            <a:ext cx="5334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3D7BD9"/>
                </a:solidFill>
                <a:latin typeface="Times New Roman"/>
                <a:ea typeface="Times New Roman"/>
                <a:cs typeface="Times New Roman"/>
              </a:rPr>
              <a:t>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" y="5676900"/>
            <a:ext cx="11049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x = L · cos θ      y = L · sin 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角度制与弧度制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M2 · 第 2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11 / 21</a:t>
            </a:r>
          </a:p>
        </p:txBody>
      </p:sp>
      <p:sp>
        <p:nvSpPr>
          <p:cNvPr id="8" name="Freeform 7"/>
          <p:cNvSpPr/>
          <p:nvPr/>
        </p:nvSpPr>
        <p:spPr>
          <a:xfrm>
            <a:off x="2952750" y="2000250"/>
            <a:ext cx="6286500" cy="3143250"/>
          </a:xfrm>
          <a:custGeom>
            <a:avLst/>
            <a:gdLst/>
            <a:ahLst/>
            <a:cxnLst/>
            <a:rect l="l" t="t" r="r" b="b"/>
            <a:pathLst>
              <a:path w="6286500" h="3143250">
                <a:moveTo>
                  <a:pt x="6286500" y="3143250"/>
                </a:moveTo>
                <a:lnTo>
                  <a:pt x="6276810" y="2896633"/>
                </a:lnTo>
                <a:lnTo>
                  <a:pt x="6247801" y="2651537"/>
                </a:lnTo>
                <a:lnTo>
                  <a:pt x="6199652" y="2409473"/>
                </a:lnTo>
                <a:lnTo>
                  <a:pt x="6132658" y="2171932"/>
                </a:lnTo>
                <a:lnTo>
                  <a:pt x="6047234" y="1940380"/>
                </a:lnTo>
                <a:lnTo>
                  <a:pt x="5943906" y="1716244"/>
                </a:lnTo>
                <a:lnTo>
                  <a:pt x="5823311" y="1500906"/>
                </a:lnTo>
                <a:lnTo>
                  <a:pt x="5686193" y="1295694"/>
                </a:lnTo>
                <a:lnTo>
                  <a:pt x="5533396" y="1101872"/>
                </a:lnTo>
                <a:lnTo>
                  <a:pt x="5365863" y="920637"/>
                </a:lnTo>
                <a:lnTo>
                  <a:pt x="5184628" y="753104"/>
                </a:lnTo>
                <a:lnTo>
                  <a:pt x="4990806" y="600307"/>
                </a:lnTo>
                <a:lnTo>
                  <a:pt x="4785594" y="463189"/>
                </a:lnTo>
                <a:lnTo>
                  <a:pt x="4570256" y="342594"/>
                </a:lnTo>
                <a:lnTo>
                  <a:pt x="4346120" y="239266"/>
                </a:lnTo>
                <a:lnTo>
                  <a:pt x="4114568" y="153842"/>
                </a:lnTo>
                <a:lnTo>
                  <a:pt x="3877027" y="86848"/>
                </a:lnTo>
                <a:lnTo>
                  <a:pt x="3634963" y="38699"/>
                </a:lnTo>
                <a:lnTo>
                  <a:pt x="3389867" y="9690"/>
                </a:lnTo>
                <a:lnTo>
                  <a:pt x="3143250" y="0"/>
                </a:lnTo>
                <a:lnTo>
                  <a:pt x="2896633" y="9690"/>
                </a:lnTo>
                <a:lnTo>
                  <a:pt x="2651537" y="38699"/>
                </a:lnTo>
                <a:lnTo>
                  <a:pt x="2409473" y="86848"/>
                </a:lnTo>
                <a:lnTo>
                  <a:pt x="2171932" y="153842"/>
                </a:lnTo>
                <a:lnTo>
                  <a:pt x="1940380" y="239266"/>
                </a:lnTo>
                <a:lnTo>
                  <a:pt x="1716244" y="342594"/>
                </a:lnTo>
                <a:lnTo>
                  <a:pt x="1500906" y="463189"/>
                </a:lnTo>
                <a:lnTo>
                  <a:pt x="1295694" y="600307"/>
                </a:lnTo>
                <a:lnTo>
                  <a:pt x="1101872" y="753104"/>
                </a:lnTo>
                <a:lnTo>
                  <a:pt x="920637" y="920637"/>
                </a:lnTo>
                <a:lnTo>
                  <a:pt x="753104" y="1101872"/>
                </a:lnTo>
                <a:lnTo>
                  <a:pt x="600307" y="1295694"/>
                </a:lnTo>
                <a:lnTo>
                  <a:pt x="463189" y="1500906"/>
                </a:lnTo>
                <a:lnTo>
                  <a:pt x="342594" y="1716244"/>
                </a:lnTo>
                <a:lnTo>
                  <a:pt x="239266" y="1940380"/>
                </a:lnTo>
                <a:lnTo>
                  <a:pt x="153842" y="2171932"/>
                </a:lnTo>
                <a:lnTo>
                  <a:pt x="86848" y="2409473"/>
                </a:lnTo>
                <a:lnTo>
                  <a:pt x="38699" y="2651537"/>
                </a:lnTo>
                <a:lnTo>
                  <a:pt x="9690" y="2896633"/>
                </a:lnTo>
                <a:lnTo>
                  <a:pt x="0" y="3143250"/>
                </a:lnTo>
              </a:path>
            </a:pathLst>
          </a:custGeom>
          <a:noFill/>
          <a:ln w="3810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476500" y="5143500"/>
            <a:ext cx="7239000" cy="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24950" y="5143500"/>
            <a:ext cx="228600" cy="0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248775" y="50196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1975" y="50196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8719148" y="3514725"/>
            <a:ext cx="197973" cy="114300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096000" y="3629025"/>
            <a:ext cx="2623148" cy="1514475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68958" y="32289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30°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082" y="37623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π/6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8237791" y="2840064"/>
            <a:ext cx="161645" cy="161645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096000" y="3001709"/>
            <a:ext cx="2141791" cy="2141791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99807" y="2487243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45°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5466" y="3241584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π/4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610475" y="2322379"/>
            <a:ext cx="114300" cy="197973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096000" y="2520352"/>
            <a:ext cx="1514475" cy="2623148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58075" y="1918092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60°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2841968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π/3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096000" y="1885950"/>
            <a:ext cx="0" cy="228600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096000" y="2114550"/>
            <a:ext cx="0" cy="3028950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7375" y="14382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90°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7375" y="25050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π/2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4467225" y="2322379"/>
            <a:ext cx="114300" cy="197973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4581525" y="2520352"/>
            <a:ext cx="1514475" cy="2623148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876675" y="1918092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120°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0075" y="2841968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2π/3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3792564" y="2840064"/>
            <a:ext cx="161645" cy="161645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3954209" y="3001709"/>
            <a:ext cx="2141791" cy="2141791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134943" y="2487243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135°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9284" y="3241584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3π/4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274879" y="3514725"/>
            <a:ext cx="197973" cy="114300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3472852" y="3629025"/>
            <a:ext cx="2623148" cy="1514475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565792" y="32289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150°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9668" y="37623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5π/6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2838450" y="5143500"/>
            <a:ext cx="228600" cy="0"/>
          </a:xfrm>
          <a:prstGeom prst="line">
            <a:avLst/>
          </a:prstGeom>
          <a:ln w="254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85975" y="50196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180°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2775" y="50196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π</a:t>
            </a:r>
          </a:p>
        </p:txBody>
      </p:sp>
      <p:sp>
        <p:nvSpPr>
          <p:cNvPr id="44" name="Freeform 43"/>
          <p:cNvSpPr/>
          <p:nvPr/>
        </p:nvSpPr>
        <p:spPr>
          <a:xfrm>
            <a:off x="3981450" y="3028950"/>
            <a:ext cx="4229100" cy="2114550"/>
          </a:xfrm>
          <a:custGeom>
            <a:avLst/>
            <a:gdLst/>
            <a:ahLst/>
            <a:cxnLst/>
            <a:rect l="l" t="t" r="r" b="b"/>
            <a:pathLst>
              <a:path w="4229100" h="2114550">
                <a:moveTo>
                  <a:pt x="4229100" y="2114550"/>
                </a:moveTo>
                <a:lnTo>
                  <a:pt x="4222582" y="1948644"/>
                </a:lnTo>
                <a:lnTo>
                  <a:pt x="4203066" y="1783762"/>
                </a:lnTo>
                <a:lnTo>
                  <a:pt x="4170675" y="1620918"/>
                </a:lnTo>
                <a:lnTo>
                  <a:pt x="4125607" y="1461118"/>
                </a:lnTo>
                <a:lnTo>
                  <a:pt x="4068139" y="1305347"/>
                </a:lnTo>
                <a:lnTo>
                  <a:pt x="3998628" y="1154564"/>
                </a:lnTo>
                <a:lnTo>
                  <a:pt x="3917500" y="1009701"/>
                </a:lnTo>
                <a:lnTo>
                  <a:pt x="3825257" y="871649"/>
                </a:lnTo>
                <a:lnTo>
                  <a:pt x="3722466" y="741260"/>
                </a:lnTo>
                <a:lnTo>
                  <a:pt x="3609763" y="619337"/>
                </a:lnTo>
                <a:lnTo>
                  <a:pt x="3487840" y="506634"/>
                </a:lnTo>
                <a:lnTo>
                  <a:pt x="3357451" y="403843"/>
                </a:lnTo>
                <a:lnTo>
                  <a:pt x="3219399" y="311600"/>
                </a:lnTo>
                <a:lnTo>
                  <a:pt x="3074536" y="230472"/>
                </a:lnTo>
                <a:lnTo>
                  <a:pt x="2923753" y="160961"/>
                </a:lnTo>
                <a:lnTo>
                  <a:pt x="2767982" y="103493"/>
                </a:lnTo>
                <a:lnTo>
                  <a:pt x="2608182" y="58425"/>
                </a:lnTo>
                <a:lnTo>
                  <a:pt x="2445338" y="26034"/>
                </a:lnTo>
                <a:lnTo>
                  <a:pt x="2280456" y="6518"/>
                </a:lnTo>
                <a:lnTo>
                  <a:pt x="2114550" y="0"/>
                </a:lnTo>
                <a:lnTo>
                  <a:pt x="1948644" y="6518"/>
                </a:lnTo>
                <a:lnTo>
                  <a:pt x="1783762" y="26034"/>
                </a:lnTo>
                <a:lnTo>
                  <a:pt x="1620918" y="58425"/>
                </a:lnTo>
                <a:lnTo>
                  <a:pt x="1461118" y="103493"/>
                </a:lnTo>
                <a:lnTo>
                  <a:pt x="1305347" y="160961"/>
                </a:lnTo>
                <a:lnTo>
                  <a:pt x="1154564" y="230472"/>
                </a:lnTo>
                <a:lnTo>
                  <a:pt x="1009701" y="311600"/>
                </a:lnTo>
                <a:lnTo>
                  <a:pt x="871649" y="403843"/>
                </a:lnTo>
                <a:lnTo>
                  <a:pt x="741260" y="506634"/>
                </a:lnTo>
                <a:lnTo>
                  <a:pt x="619337" y="619337"/>
                </a:lnTo>
                <a:lnTo>
                  <a:pt x="506634" y="741260"/>
                </a:lnTo>
                <a:lnTo>
                  <a:pt x="403843" y="871649"/>
                </a:lnTo>
                <a:lnTo>
                  <a:pt x="311600" y="1009701"/>
                </a:lnTo>
                <a:lnTo>
                  <a:pt x="230472" y="1154564"/>
                </a:lnTo>
                <a:lnTo>
                  <a:pt x="160961" y="1305347"/>
                </a:lnTo>
                <a:lnTo>
                  <a:pt x="103493" y="1461118"/>
                </a:lnTo>
                <a:lnTo>
                  <a:pt x="58425" y="1620918"/>
                </a:lnTo>
                <a:lnTo>
                  <a:pt x="26034" y="1783762"/>
                </a:lnTo>
                <a:lnTo>
                  <a:pt x="6518" y="1948644"/>
                </a:lnTo>
                <a:lnTo>
                  <a:pt x="0" y="2114550"/>
                </a:lnTo>
              </a:path>
            </a:pathLst>
          </a:custGeom>
          <a:noFill/>
          <a:ln w="3048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7750" y="2276475"/>
            <a:ext cx="2476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半径 = 1 个半径长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000" y="1028700"/>
            <a:ext cx="1104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半圆上的弧长，就是弧度数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1000" y="5638800"/>
            <a:ext cx="1104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θ(弧度) = θ(度) × π / 180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反解角度为什么要用 atan2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M2 · 第 2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12 / 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81300" y="3543300"/>
            <a:ext cx="5162550" cy="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334000" y="1047750"/>
            <a:ext cx="0" cy="4972050"/>
          </a:xfrm>
          <a:prstGeom prst="line">
            <a:avLst/>
          </a:prstGeom>
          <a:ln w="1778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43850" y="3228975"/>
            <a:ext cx="4191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6350" y="695325"/>
            <a:ext cx="4191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334000" y="2223202"/>
            <a:ext cx="1320098" cy="1320098"/>
          </a:xfrm>
          <a:prstGeom prst="line">
            <a:avLst/>
          </a:prstGeom>
          <a:ln w="30480">
            <a:solidFill>
              <a:srgbClr val="1E4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577898" y="2147002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4073" y="1889827"/>
            <a:ext cx="1047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45°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4013902" y="2223202"/>
            <a:ext cx="1320098" cy="1320098"/>
          </a:xfrm>
          <a:prstGeom prst="line">
            <a:avLst/>
          </a:prstGeom>
          <a:ln w="30480">
            <a:solidFill>
              <a:srgbClr val="1E4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937702" y="2147002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66177" y="1889827"/>
            <a:ext cx="1047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135°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4013902" y="3543300"/>
            <a:ext cx="1320098" cy="1320098"/>
          </a:xfrm>
          <a:prstGeom prst="line">
            <a:avLst/>
          </a:prstGeom>
          <a:ln w="30480">
            <a:solidFill>
              <a:srgbClr val="D953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937702" y="4787198"/>
            <a:ext cx="152400" cy="15240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66177" y="4530023"/>
            <a:ext cx="1047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−135°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4000" y="3543300"/>
            <a:ext cx="1320098" cy="1320098"/>
          </a:xfrm>
          <a:prstGeom prst="line">
            <a:avLst/>
          </a:prstGeom>
          <a:ln w="30480">
            <a:solidFill>
              <a:srgbClr val="1E4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577898" y="4787198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4073" y="4530023"/>
            <a:ext cx="1047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−45°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014102" y="3543300"/>
            <a:ext cx="1319898" cy="1319898"/>
          </a:xfrm>
          <a:prstGeom prst="line">
            <a:avLst/>
          </a:prstGeom>
          <a:ln w="3302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014102" y="2223402"/>
            <a:ext cx="0" cy="2639796"/>
          </a:xfrm>
          <a:prstGeom prst="line">
            <a:avLst/>
          </a:prstGeom>
          <a:ln w="17780">
            <a:solidFill>
              <a:srgbClr val="D9534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381250" y="5467350"/>
            <a:ext cx="285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arctan 把它俩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看成同一个角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4038600" y="4476750"/>
            <a:ext cx="495300" cy="1066800"/>
          </a:xfrm>
          <a:prstGeom prst="line">
            <a:avLst/>
          </a:prstGeom>
          <a:ln w="20320">
            <a:solidFill>
              <a:srgbClr val="D953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724900" y="1638300"/>
            <a:ext cx="0" cy="369570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0" y="2038350"/>
            <a:ext cx="285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atan2(y, 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81300"/>
            <a:ext cx="28575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能分辨四个象限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3050" y="3333750"/>
            <a:ext cx="209550" cy="209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5950" y="331470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→  45°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63050" y="3829050"/>
            <a:ext cx="209550" cy="209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5950" y="381000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→  135°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3050" y="4324350"/>
            <a:ext cx="209550" cy="20955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5950" y="430530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→  −135°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63050" y="4819650"/>
            <a:ext cx="209550" cy="209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5950" y="4800600"/>
            <a:ext cx="190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2230"/>
                </a:solidFill>
                <a:latin typeface="Times New Roman"/>
                <a:ea typeface="Times New Roman"/>
                <a:cs typeface="Times New Roman"/>
              </a:rPr>
              <a:t>→  −45°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2450" y="914400"/>
            <a:ext cx="4000500" cy="285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1000" b="1">
                <a:solidFill>
                  <a:srgbClr val="1651A8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733800"/>
            <a:ext cx="762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平面正运动学：1R → 2R → 3R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550" y="4610100"/>
            <a:ext cx="8001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1500" y="4876800"/>
            <a:ext cx="106680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4876800"/>
            <a:ext cx="10668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角度累加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71650" y="4876800"/>
            <a:ext cx="106680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71650" y="4876800"/>
            <a:ext cx="10668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向量相加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4876800"/>
            <a:ext cx="1066800" cy="4191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4876800"/>
            <a:ext cx="10668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可达圆环</a:t>
            </a:r>
          </a:p>
        </p:txBody>
      </p:sp>
      <p:sp>
        <p:nvSpPr>
          <p:cNvPr id="12" name="Donut 11"/>
          <p:cNvSpPr/>
          <p:nvPr/>
        </p:nvSpPr>
        <p:spPr>
          <a:xfrm>
            <a:off x="7696200" y="1409700"/>
            <a:ext cx="2895600" cy="2895600"/>
          </a:xfrm>
          <a:prstGeom prst="donut">
            <a:avLst>
              <a:gd name="adj" fmla="val 28947"/>
            </a:avLst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34400" y="2247900"/>
            <a:ext cx="1219200" cy="1219200"/>
          </a:xfrm>
          <a:prstGeom prst="ellipse">
            <a:avLst/>
          </a:prstGeom>
          <a:solidFill>
            <a:srgbClr val="0E3F8C"/>
          </a:solidFill>
          <a:ln w="9525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144000" y="2177799"/>
            <a:ext cx="1278332" cy="679701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115425" y="2828925"/>
            <a:ext cx="57150" cy="571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E95C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θ2 是从哪里量的？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M3 · 第 3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14 / 21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857500" y="3014362"/>
            <a:ext cx="1211395" cy="1938638"/>
          </a:xfrm>
          <a:prstGeom prst="line">
            <a:avLst/>
          </a:prstGeom>
          <a:ln w="1397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68895" y="2278270"/>
            <a:ext cx="1653289" cy="736092"/>
          </a:xfrm>
          <a:prstGeom prst="line">
            <a:avLst/>
          </a:prstGeom>
          <a:ln w="1143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068895" y="1479607"/>
            <a:ext cx="959022" cy="1534755"/>
          </a:xfrm>
          <a:prstGeom prst="line">
            <a:avLst/>
          </a:prstGeom>
          <a:ln w="22860">
            <a:solidFill>
              <a:srgbClr val="8B97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476500" y="4953000"/>
            <a:ext cx="3524250" cy="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3301678" y="4242166"/>
            <a:ext cx="394022" cy="710834"/>
          </a:xfrm>
          <a:custGeom>
            <a:avLst/>
            <a:gdLst/>
            <a:ahLst/>
            <a:cxnLst/>
            <a:rect l="l" t="t" r="r" b="b"/>
            <a:pathLst>
              <a:path w="394022" h="710834">
                <a:moveTo>
                  <a:pt x="394022" y="710834"/>
                </a:moveTo>
                <a:lnTo>
                  <a:pt x="393754" y="689624"/>
                </a:lnTo>
                <a:lnTo>
                  <a:pt x="392949" y="668427"/>
                </a:lnTo>
                <a:lnTo>
                  <a:pt x="391607" y="647257"/>
                </a:lnTo>
                <a:lnTo>
                  <a:pt x="389731" y="626129"/>
                </a:lnTo>
                <a:lnTo>
                  <a:pt x="387321" y="605054"/>
                </a:lnTo>
                <a:lnTo>
                  <a:pt x="384378" y="584047"/>
                </a:lnTo>
                <a:lnTo>
                  <a:pt x="380904" y="563122"/>
                </a:lnTo>
                <a:lnTo>
                  <a:pt x="376902" y="542290"/>
                </a:lnTo>
                <a:lnTo>
                  <a:pt x="372374" y="521567"/>
                </a:lnTo>
                <a:lnTo>
                  <a:pt x="367323" y="500965"/>
                </a:lnTo>
                <a:lnTo>
                  <a:pt x="361753" y="480498"/>
                </a:lnTo>
                <a:lnTo>
                  <a:pt x="355666" y="460178"/>
                </a:lnTo>
                <a:lnTo>
                  <a:pt x="349067" y="440019"/>
                </a:lnTo>
                <a:lnTo>
                  <a:pt x="341961" y="420033"/>
                </a:lnTo>
                <a:lnTo>
                  <a:pt x="334350" y="400233"/>
                </a:lnTo>
                <a:lnTo>
                  <a:pt x="326241" y="380632"/>
                </a:lnTo>
                <a:lnTo>
                  <a:pt x="317639" y="361242"/>
                </a:lnTo>
                <a:lnTo>
                  <a:pt x="308549" y="342077"/>
                </a:lnTo>
                <a:lnTo>
                  <a:pt x="298976" y="323148"/>
                </a:lnTo>
                <a:lnTo>
                  <a:pt x="288928" y="304467"/>
                </a:lnTo>
                <a:lnTo>
                  <a:pt x="278411" y="286046"/>
                </a:lnTo>
                <a:lnTo>
                  <a:pt x="267430" y="267897"/>
                </a:lnTo>
                <a:lnTo>
                  <a:pt x="255994" y="250032"/>
                </a:lnTo>
                <a:lnTo>
                  <a:pt x="244109" y="232462"/>
                </a:lnTo>
                <a:lnTo>
                  <a:pt x="231784" y="215198"/>
                </a:lnTo>
                <a:lnTo>
                  <a:pt x="219026" y="198252"/>
                </a:lnTo>
                <a:lnTo>
                  <a:pt x="205843" y="181634"/>
                </a:lnTo>
                <a:lnTo>
                  <a:pt x="192243" y="165355"/>
                </a:lnTo>
                <a:lnTo>
                  <a:pt x="178236" y="149425"/>
                </a:lnTo>
                <a:lnTo>
                  <a:pt x="163831" y="133855"/>
                </a:lnTo>
                <a:lnTo>
                  <a:pt x="149036" y="118655"/>
                </a:lnTo>
                <a:lnTo>
                  <a:pt x="133861" y="103833"/>
                </a:lnTo>
                <a:lnTo>
                  <a:pt x="118316" y="89400"/>
                </a:lnTo>
                <a:lnTo>
                  <a:pt x="102411" y="75366"/>
                </a:lnTo>
                <a:lnTo>
                  <a:pt x="86156" y="61738"/>
                </a:lnTo>
                <a:lnTo>
                  <a:pt x="69561" y="48526"/>
                </a:lnTo>
                <a:lnTo>
                  <a:pt x="52637" y="35738"/>
                </a:lnTo>
                <a:lnTo>
                  <a:pt x="35395" y="23383"/>
                </a:lnTo>
                <a:lnTo>
                  <a:pt x="17845" y="11467"/>
                </a:lnTo>
                <a:lnTo>
                  <a:pt x="0" y="0"/>
                </a:lnTo>
              </a:path>
            </a:pathLst>
          </a:custGeom>
          <a:noFill/>
          <a:ln w="2794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442409" y="2416615"/>
            <a:ext cx="270399" cy="311059"/>
          </a:xfrm>
          <a:custGeom>
            <a:avLst/>
            <a:gdLst/>
            <a:ahLst/>
            <a:cxnLst/>
            <a:rect l="l" t="t" r="r" b="b"/>
            <a:pathLst>
              <a:path w="270399" h="311059">
                <a:moveTo>
                  <a:pt x="270399" y="311059"/>
                </a:moveTo>
                <a:lnTo>
                  <a:pt x="266075" y="301538"/>
                </a:lnTo>
                <a:lnTo>
                  <a:pt x="261611" y="292082"/>
                </a:lnTo>
                <a:lnTo>
                  <a:pt x="257006" y="282694"/>
                </a:lnTo>
                <a:lnTo>
                  <a:pt x="252263" y="273375"/>
                </a:lnTo>
                <a:lnTo>
                  <a:pt x="247382" y="264128"/>
                </a:lnTo>
                <a:lnTo>
                  <a:pt x="242365" y="254954"/>
                </a:lnTo>
                <a:lnTo>
                  <a:pt x="237212" y="245855"/>
                </a:lnTo>
                <a:lnTo>
                  <a:pt x="231924" y="236834"/>
                </a:lnTo>
                <a:lnTo>
                  <a:pt x="226504" y="227892"/>
                </a:lnTo>
                <a:lnTo>
                  <a:pt x="220951" y="219031"/>
                </a:lnTo>
                <a:lnTo>
                  <a:pt x="215267" y="210254"/>
                </a:lnTo>
                <a:lnTo>
                  <a:pt x="209454" y="201563"/>
                </a:lnTo>
                <a:lnTo>
                  <a:pt x="203513" y="192958"/>
                </a:lnTo>
                <a:lnTo>
                  <a:pt x="197444" y="184442"/>
                </a:lnTo>
                <a:lnTo>
                  <a:pt x="191250" y="176018"/>
                </a:lnTo>
                <a:lnTo>
                  <a:pt x="184932" y="167686"/>
                </a:lnTo>
                <a:lnTo>
                  <a:pt x="178490" y="159449"/>
                </a:lnTo>
                <a:lnTo>
                  <a:pt x="171928" y="151309"/>
                </a:lnTo>
                <a:lnTo>
                  <a:pt x="165245" y="143266"/>
                </a:lnTo>
                <a:lnTo>
                  <a:pt x="158443" y="135324"/>
                </a:lnTo>
                <a:lnTo>
                  <a:pt x="151525" y="127483"/>
                </a:lnTo>
                <a:lnTo>
                  <a:pt x="144491" y="119746"/>
                </a:lnTo>
                <a:lnTo>
                  <a:pt x="137343" y="112114"/>
                </a:lnTo>
                <a:lnTo>
                  <a:pt x="130083" y="104589"/>
                </a:lnTo>
                <a:lnTo>
                  <a:pt x="122711" y="97173"/>
                </a:lnTo>
                <a:lnTo>
                  <a:pt x="115231" y="89867"/>
                </a:lnTo>
                <a:lnTo>
                  <a:pt x="107643" y="82672"/>
                </a:lnTo>
                <a:lnTo>
                  <a:pt x="99949" y="75591"/>
                </a:lnTo>
                <a:lnTo>
                  <a:pt x="92151" y="68625"/>
                </a:lnTo>
                <a:lnTo>
                  <a:pt x="84250" y="61775"/>
                </a:lnTo>
                <a:lnTo>
                  <a:pt x="76249" y="55043"/>
                </a:lnTo>
                <a:lnTo>
                  <a:pt x="68148" y="48431"/>
                </a:lnTo>
                <a:lnTo>
                  <a:pt x="59951" y="41939"/>
                </a:lnTo>
                <a:lnTo>
                  <a:pt x="51658" y="35570"/>
                </a:lnTo>
                <a:lnTo>
                  <a:pt x="43271" y="29325"/>
                </a:lnTo>
                <a:lnTo>
                  <a:pt x="34793" y="23204"/>
                </a:lnTo>
                <a:lnTo>
                  <a:pt x="26225" y="17210"/>
                </a:lnTo>
                <a:lnTo>
                  <a:pt x="17569" y="11344"/>
                </a:lnTo>
                <a:lnTo>
                  <a:pt x="8826" y="5607"/>
                </a:lnTo>
                <a:lnTo>
                  <a:pt x="0" y="0"/>
                </a:lnTo>
              </a:path>
            </a:pathLst>
          </a:custGeom>
          <a:noFill/>
          <a:ln w="3048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3056344" y="3538154"/>
            <a:ext cx="1229906" cy="1414846"/>
          </a:xfrm>
          <a:custGeom>
            <a:avLst/>
            <a:gdLst/>
            <a:ahLst/>
            <a:cxnLst/>
            <a:rect l="l" t="t" r="r" b="b"/>
            <a:pathLst>
              <a:path w="1229906" h="1414846">
                <a:moveTo>
                  <a:pt x="1229906" y="1414846"/>
                </a:moveTo>
                <a:lnTo>
                  <a:pt x="1228992" y="1363737"/>
                </a:lnTo>
                <a:lnTo>
                  <a:pt x="1226250" y="1312694"/>
                </a:lnTo>
                <a:lnTo>
                  <a:pt x="1221683" y="1261782"/>
                </a:lnTo>
                <a:lnTo>
                  <a:pt x="1215299" y="1211065"/>
                </a:lnTo>
                <a:lnTo>
                  <a:pt x="1207104" y="1160609"/>
                </a:lnTo>
                <a:lnTo>
                  <a:pt x="1197110" y="1110479"/>
                </a:lnTo>
                <a:lnTo>
                  <a:pt x="1185329" y="1060738"/>
                </a:lnTo>
                <a:lnTo>
                  <a:pt x="1171776" y="1011451"/>
                </a:lnTo>
                <a:lnTo>
                  <a:pt x="1156469" y="962680"/>
                </a:lnTo>
                <a:lnTo>
                  <a:pt x="1139426" y="914487"/>
                </a:lnTo>
                <a:lnTo>
                  <a:pt x="1120671" y="866935"/>
                </a:lnTo>
                <a:lnTo>
                  <a:pt x="1100227" y="820085"/>
                </a:lnTo>
                <a:lnTo>
                  <a:pt x="1078120" y="773996"/>
                </a:lnTo>
                <a:lnTo>
                  <a:pt x="1054379" y="728727"/>
                </a:lnTo>
                <a:lnTo>
                  <a:pt x="1029033" y="684336"/>
                </a:lnTo>
                <a:lnTo>
                  <a:pt x="1002116" y="640880"/>
                </a:lnTo>
                <a:lnTo>
                  <a:pt x="973661" y="598415"/>
                </a:lnTo>
                <a:lnTo>
                  <a:pt x="943705" y="556996"/>
                </a:lnTo>
                <a:lnTo>
                  <a:pt x="912288" y="516674"/>
                </a:lnTo>
                <a:lnTo>
                  <a:pt x="879447" y="477502"/>
                </a:lnTo>
                <a:lnTo>
                  <a:pt x="845227" y="439529"/>
                </a:lnTo>
                <a:lnTo>
                  <a:pt x="809670" y="402805"/>
                </a:lnTo>
                <a:lnTo>
                  <a:pt x="772822" y="367377"/>
                </a:lnTo>
                <a:lnTo>
                  <a:pt x="734731" y="333289"/>
                </a:lnTo>
                <a:lnTo>
                  <a:pt x="695444" y="300586"/>
                </a:lnTo>
                <a:lnTo>
                  <a:pt x="655013" y="269309"/>
                </a:lnTo>
                <a:lnTo>
                  <a:pt x="613489" y="239498"/>
                </a:lnTo>
                <a:lnTo>
                  <a:pt x="570925" y="211192"/>
                </a:lnTo>
                <a:lnTo>
                  <a:pt x="527375" y="184427"/>
                </a:lnTo>
                <a:lnTo>
                  <a:pt x="482897" y="159236"/>
                </a:lnTo>
                <a:lnTo>
                  <a:pt x="437545" y="135653"/>
                </a:lnTo>
                <a:lnTo>
                  <a:pt x="391379" y="113707"/>
                </a:lnTo>
                <a:lnTo>
                  <a:pt x="344457" y="93426"/>
                </a:lnTo>
                <a:lnTo>
                  <a:pt x="296840" y="74837"/>
                </a:lnTo>
                <a:lnTo>
                  <a:pt x="248589" y="57963"/>
                </a:lnTo>
                <a:lnTo>
                  <a:pt x="199765" y="42826"/>
                </a:lnTo>
                <a:lnTo>
                  <a:pt x="150430" y="29446"/>
                </a:lnTo>
                <a:lnTo>
                  <a:pt x="100649" y="17838"/>
                </a:lnTo>
                <a:lnTo>
                  <a:pt x="50484" y="8019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D953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52725" y="4848225"/>
            <a:ext cx="209550" cy="2095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73645" y="2919112"/>
            <a:ext cx="190500" cy="190500"/>
          </a:xfrm>
          <a:prstGeom prst="ellipse">
            <a:avLst/>
          </a:prstGeom>
          <a:solidFill>
            <a:srgbClr val="1E4FA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26934" y="2183020"/>
            <a:ext cx="190500" cy="190500"/>
          </a:xfrm>
          <a:prstGeom prst="ellipse">
            <a:avLst/>
          </a:prstGeom>
          <a:solidFill>
            <a:srgbClr val="3D7BD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4725" y="45815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θ1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6970" y="2395237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θ2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990975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θ1 + θ2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67500" y="1219200"/>
            <a:ext cx="5143500" cy="430530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4200" y="14478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第二段连杆的“绝对角度”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34200" y="1885950"/>
            <a:ext cx="4610100" cy="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924800" y="3550851"/>
            <a:ext cx="757122" cy="1211649"/>
          </a:xfrm>
          <a:prstGeom prst="line">
            <a:avLst/>
          </a:prstGeom>
          <a:ln w="1016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681922" y="2418975"/>
            <a:ext cx="159075" cy="1131876"/>
          </a:xfrm>
          <a:prstGeom prst="line">
            <a:avLst/>
          </a:prstGeom>
          <a:ln w="889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8278124" y="4197064"/>
            <a:ext cx="313426" cy="565436"/>
          </a:xfrm>
          <a:custGeom>
            <a:avLst/>
            <a:gdLst/>
            <a:ahLst/>
            <a:cxnLst/>
            <a:rect l="l" t="t" r="r" b="b"/>
            <a:pathLst>
              <a:path w="313426" h="565436">
                <a:moveTo>
                  <a:pt x="313426" y="565436"/>
                </a:moveTo>
                <a:lnTo>
                  <a:pt x="313212" y="548564"/>
                </a:lnTo>
                <a:lnTo>
                  <a:pt x="312572" y="531703"/>
                </a:lnTo>
                <a:lnTo>
                  <a:pt x="311505" y="514864"/>
                </a:lnTo>
                <a:lnTo>
                  <a:pt x="310013" y="498057"/>
                </a:lnTo>
                <a:lnTo>
                  <a:pt x="308095" y="481293"/>
                </a:lnTo>
                <a:lnTo>
                  <a:pt x="305754" y="464583"/>
                </a:lnTo>
                <a:lnTo>
                  <a:pt x="302991" y="447937"/>
                </a:lnTo>
                <a:lnTo>
                  <a:pt x="299808" y="431367"/>
                </a:lnTo>
                <a:lnTo>
                  <a:pt x="296206" y="414883"/>
                </a:lnTo>
                <a:lnTo>
                  <a:pt x="292188" y="398495"/>
                </a:lnTo>
                <a:lnTo>
                  <a:pt x="287757" y="382214"/>
                </a:lnTo>
                <a:lnTo>
                  <a:pt x="282916" y="366051"/>
                </a:lnTo>
                <a:lnTo>
                  <a:pt x="277667" y="350015"/>
                </a:lnTo>
                <a:lnTo>
                  <a:pt x="272013" y="334117"/>
                </a:lnTo>
                <a:lnTo>
                  <a:pt x="265960" y="318367"/>
                </a:lnTo>
                <a:lnTo>
                  <a:pt x="259509" y="302775"/>
                </a:lnTo>
                <a:lnTo>
                  <a:pt x="252667" y="287352"/>
                </a:lnTo>
                <a:lnTo>
                  <a:pt x="245436" y="272107"/>
                </a:lnTo>
                <a:lnTo>
                  <a:pt x="237822" y="257049"/>
                </a:lnTo>
                <a:lnTo>
                  <a:pt x="229829" y="242189"/>
                </a:lnTo>
                <a:lnTo>
                  <a:pt x="221462" y="227536"/>
                </a:lnTo>
                <a:lnTo>
                  <a:pt x="212728" y="213100"/>
                </a:lnTo>
                <a:lnTo>
                  <a:pt x="203631" y="198889"/>
                </a:lnTo>
                <a:lnTo>
                  <a:pt x="194177" y="184913"/>
                </a:lnTo>
                <a:lnTo>
                  <a:pt x="184373" y="171180"/>
                </a:lnTo>
                <a:lnTo>
                  <a:pt x="174224" y="157700"/>
                </a:lnTo>
                <a:lnTo>
                  <a:pt x="163738" y="144482"/>
                </a:lnTo>
                <a:lnTo>
                  <a:pt x="152920" y="131532"/>
                </a:lnTo>
                <a:lnTo>
                  <a:pt x="141778" y="118861"/>
                </a:lnTo>
                <a:lnTo>
                  <a:pt x="130319" y="106476"/>
                </a:lnTo>
                <a:lnTo>
                  <a:pt x="118551" y="94384"/>
                </a:lnTo>
                <a:lnTo>
                  <a:pt x="106480" y="82594"/>
                </a:lnTo>
                <a:lnTo>
                  <a:pt x="94114" y="71114"/>
                </a:lnTo>
                <a:lnTo>
                  <a:pt x="81463" y="59950"/>
                </a:lnTo>
                <a:lnTo>
                  <a:pt x="68532" y="49110"/>
                </a:lnTo>
                <a:lnTo>
                  <a:pt x="55332" y="38600"/>
                </a:lnTo>
                <a:lnTo>
                  <a:pt x="41870" y="28428"/>
                </a:lnTo>
                <a:lnTo>
                  <a:pt x="28154" y="18600"/>
                </a:lnTo>
                <a:lnTo>
                  <a:pt x="14195" y="9122"/>
                </a:lnTo>
                <a:lnTo>
                  <a:pt x="0" y="0"/>
                </a:lnTo>
              </a:path>
            </a:pathLst>
          </a:custGeom>
          <a:noFill/>
          <a:ln w="2286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8081224" y="3649488"/>
            <a:ext cx="967526" cy="1113012"/>
          </a:xfrm>
          <a:custGeom>
            <a:avLst/>
            <a:gdLst/>
            <a:ahLst/>
            <a:cxnLst/>
            <a:rect l="l" t="t" r="r" b="b"/>
            <a:pathLst>
              <a:path w="967526" h="1113012">
                <a:moveTo>
                  <a:pt x="967526" y="1113012"/>
                </a:moveTo>
                <a:lnTo>
                  <a:pt x="966807" y="1072806"/>
                </a:lnTo>
                <a:lnTo>
                  <a:pt x="964650" y="1032652"/>
                </a:lnTo>
                <a:lnTo>
                  <a:pt x="961057" y="992601"/>
                </a:lnTo>
                <a:lnTo>
                  <a:pt x="956035" y="952704"/>
                </a:lnTo>
                <a:lnTo>
                  <a:pt x="949589" y="913012"/>
                </a:lnTo>
                <a:lnTo>
                  <a:pt x="941726" y="873576"/>
                </a:lnTo>
                <a:lnTo>
                  <a:pt x="932459" y="834447"/>
                </a:lnTo>
                <a:lnTo>
                  <a:pt x="921797" y="795674"/>
                </a:lnTo>
                <a:lnTo>
                  <a:pt x="909755" y="757308"/>
                </a:lnTo>
                <a:lnTo>
                  <a:pt x="896349" y="719396"/>
                </a:lnTo>
                <a:lnTo>
                  <a:pt x="881595" y="681989"/>
                </a:lnTo>
                <a:lnTo>
                  <a:pt x="865512" y="645133"/>
                </a:lnTo>
                <a:lnTo>
                  <a:pt x="848121" y="608876"/>
                </a:lnTo>
                <a:lnTo>
                  <a:pt x="829444" y="573265"/>
                </a:lnTo>
                <a:lnTo>
                  <a:pt x="809506" y="538344"/>
                </a:lnTo>
                <a:lnTo>
                  <a:pt x="788331" y="504159"/>
                </a:lnTo>
                <a:lnTo>
                  <a:pt x="765947" y="470753"/>
                </a:lnTo>
                <a:lnTo>
                  <a:pt x="742382" y="438170"/>
                </a:lnTo>
                <a:lnTo>
                  <a:pt x="717666" y="406450"/>
                </a:lnTo>
                <a:lnTo>
                  <a:pt x="691832" y="375634"/>
                </a:lnTo>
                <a:lnTo>
                  <a:pt x="664912" y="345763"/>
                </a:lnTo>
                <a:lnTo>
                  <a:pt x="636940" y="316873"/>
                </a:lnTo>
                <a:lnTo>
                  <a:pt x="607953" y="289003"/>
                </a:lnTo>
                <a:lnTo>
                  <a:pt x="577988" y="262187"/>
                </a:lnTo>
                <a:lnTo>
                  <a:pt x="547083" y="236461"/>
                </a:lnTo>
                <a:lnTo>
                  <a:pt x="515277" y="211856"/>
                </a:lnTo>
                <a:lnTo>
                  <a:pt x="482611" y="188405"/>
                </a:lnTo>
                <a:lnTo>
                  <a:pt x="449127" y="166138"/>
                </a:lnTo>
                <a:lnTo>
                  <a:pt x="414869" y="145082"/>
                </a:lnTo>
                <a:lnTo>
                  <a:pt x="379879" y="125266"/>
                </a:lnTo>
                <a:lnTo>
                  <a:pt x="344202" y="106713"/>
                </a:lnTo>
                <a:lnTo>
                  <a:pt x="307885" y="89449"/>
                </a:lnTo>
                <a:lnTo>
                  <a:pt x="270973" y="73495"/>
                </a:lnTo>
                <a:lnTo>
                  <a:pt x="233514" y="58872"/>
                </a:lnTo>
                <a:lnTo>
                  <a:pt x="195556" y="45598"/>
                </a:lnTo>
                <a:lnTo>
                  <a:pt x="157148" y="33690"/>
                </a:lnTo>
                <a:lnTo>
                  <a:pt x="118338" y="23164"/>
                </a:lnTo>
                <a:lnTo>
                  <a:pt x="79177" y="14033"/>
                </a:lnTo>
                <a:lnTo>
                  <a:pt x="39714" y="6308"/>
                </a:lnTo>
                <a:lnTo>
                  <a:pt x="0" y="0"/>
                </a:lnTo>
              </a:path>
            </a:pathLst>
          </a:custGeom>
          <a:noFill/>
          <a:ln w="22860">
            <a:solidFill>
              <a:srgbClr val="D953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39075" y="4676775"/>
            <a:ext cx="171450" cy="1714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05722" y="3474651"/>
            <a:ext cx="152400" cy="152400"/>
          </a:xfrm>
          <a:prstGeom prst="ellipse">
            <a:avLst/>
          </a:prstGeom>
          <a:solidFill>
            <a:srgbClr val="1E4FA8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4797" y="2342775"/>
            <a:ext cx="152400" cy="152400"/>
          </a:xfrm>
          <a:prstGeom prst="ellipse">
            <a:avLst/>
          </a:prstGeom>
          <a:solidFill>
            <a:srgbClr val="3D7BD9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77250" y="442912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θ1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1575" y="3933825"/>
            <a:ext cx="1238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θ1 + θ2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4200" y="52197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求 cos / sin，用的是 θ1 + θ2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723900"/>
            <a:ext cx="12192000" cy="0"/>
          </a:xfrm>
          <a:prstGeom prst="line">
            <a:avLst/>
          </a:prstGeom>
          <a:ln w="15240">
            <a:solidFill>
              <a:srgbClr val="1651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把两段位移加起来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M3 · 第 3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E95C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15 / 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71750" y="5029200"/>
            <a:ext cx="5048250" cy="0"/>
          </a:xfrm>
          <a:prstGeom prst="line">
            <a:avLst/>
          </a:prstGeom>
          <a:ln w="15240">
            <a:solidFill>
              <a:srgbClr val="6E9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143250" y="1409700"/>
            <a:ext cx="0" cy="4191000"/>
          </a:xfrm>
          <a:prstGeom prst="line">
            <a:avLst/>
          </a:prstGeom>
          <a:ln w="15240">
            <a:solidFill>
              <a:srgbClr val="6E9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3143250" y="2195980"/>
            <a:ext cx="3301105" cy="2833220"/>
          </a:xfrm>
          <a:custGeom>
            <a:avLst/>
            <a:gdLst/>
            <a:ahLst/>
            <a:cxnLst/>
            <a:rect l="l" t="t" r="r" b="b"/>
            <a:pathLst>
              <a:path w="3301105" h="2833220">
                <a:moveTo>
                  <a:pt x="0" y="2833220"/>
                </a:moveTo>
                <a:lnTo>
                  <a:pt x="1464169" y="742171"/>
                </a:lnTo>
                <a:lnTo>
                  <a:pt x="3301105" y="0"/>
                </a:lnTo>
              </a:path>
            </a:pathLst>
          </a:custGeom>
          <a:noFill/>
          <a:ln w="33020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3143250" y="2938151"/>
            <a:ext cx="1464169" cy="2091049"/>
          </a:xfrm>
          <a:prstGeom prst="line">
            <a:avLst/>
          </a:prstGeom>
          <a:ln w="114300">
            <a:solidFill>
              <a:srgbClr val="FFFFF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607419" y="2195980"/>
            <a:ext cx="1836936" cy="742171"/>
          </a:xfrm>
          <a:prstGeom prst="line">
            <a:avLst/>
          </a:prstGeom>
          <a:ln w="101600">
            <a:solidFill>
              <a:srgbClr val="3D7BD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/>
          <p:cNvSpPr/>
          <p:nvPr/>
        </p:nvSpPr>
        <p:spPr>
          <a:xfrm>
            <a:off x="3602169" y="4373796"/>
            <a:ext cx="341181" cy="655404"/>
          </a:xfrm>
          <a:custGeom>
            <a:avLst/>
            <a:gdLst/>
            <a:ahLst/>
            <a:cxnLst/>
            <a:rect l="l" t="t" r="r" b="b"/>
            <a:pathLst>
              <a:path w="341181" h="655404">
                <a:moveTo>
                  <a:pt x="341181" y="655404"/>
                </a:moveTo>
                <a:lnTo>
                  <a:pt x="340951" y="636205"/>
                </a:lnTo>
                <a:lnTo>
                  <a:pt x="340260" y="617017"/>
                </a:lnTo>
                <a:lnTo>
                  <a:pt x="339108" y="597851"/>
                </a:lnTo>
                <a:lnTo>
                  <a:pt x="337497" y="578718"/>
                </a:lnTo>
                <a:lnTo>
                  <a:pt x="335428" y="559629"/>
                </a:lnTo>
                <a:lnTo>
                  <a:pt x="332901" y="540596"/>
                </a:lnTo>
                <a:lnTo>
                  <a:pt x="329918" y="521628"/>
                </a:lnTo>
                <a:lnTo>
                  <a:pt x="326481" y="502738"/>
                </a:lnTo>
                <a:lnTo>
                  <a:pt x="322591" y="483935"/>
                </a:lnTo>
                <a:lnTo>
                  <a:pt x="318252" y="465232"/>
                </a:lnTo>
                <a:lnTo>
                  <a:pt x="313465" y="446637"/>
                </a:lnTo>
                <a:lnTo>
                  <a:pt x="308233" y="428163"/>
                </a:lnTo>
                <a:lnTo>
                  <a:pt x="302559" y="409820"/>
                </a:lnTo>
                <a:lnTo>
                  <a:pt x="296447" y="391619"/>
                </a:lnTo>
                <a:lnTo>
                  <a:pt x="289899" y="373569"/>
                </a:lnTo>
                <a:lnTo>
                  <a:pt x="282921" y="355681"/>
                </a:lnTo>
                <a:lnTo>
                  <a:pt x="275515" y="337966"/>
                </a:lnTo>
                <a:lnTo>
                  <a:pt x="267686" y="320434"/>
                </a:lnTo>
                <a:lnTo>
                  <a:pt x="259439" y="303095"/>
                </a:lnTo>
                <a:lnTo>
                  <a:pt x="250778" y="285959"/>
                </a:lnTo>
                <a:lnTo>
                  <a:pt x="241709" y="269035"/>
                </a:lnTo>
                <a:lnTo>
                  <a:pt x="232236" y="252334"/>
                </a:lnTo>
                <a:lnTo>
                  <a:pt x="222365" y="235866"/>
                </a:lnTo>
                <a:lnTo>
                  <a:pt x="212101" y="219638"/>
                </a:lnTo>
                <a:lnTo>
                  <a:pt x="201451" y="203662"/>
                </a:lnTo>
                <a:lnTo>
                  <a:pt x="190421" y="187946"/>
                </a:lnTo>
                <a:lnTo>
                  <a:pt x="179017" y="172499"/>
                </a:lnTo>
                <a:lnTo>
                  <a:pt x="167246" y="157330"/>
                </a:lnTo>
                <a:lnTo>
                  <a:pt x="155114" y="142448"/>
                </a:lnTo>
                <a:lnTo>
                  <a:pt x="142628" y="127861"/>
                </a:lnTo>
                <a:lnTo>
                  <a:pt x="129796" y="113579"/>
                </a:lnTo>
                <a:lnTo>
                  <a:pt x="116625" y="99608"/>
                </a:lnTo>
                <a:lnTo>
                  <a:pt x="103122" y="85957"/>
                </a:lnTo>
                <a:lnTo>
                  <a:pt x="89296" y="72634"/>
                </a:lnTo>
                <a:lnTo>
                  <a:pt x="75154" y="59647"/>
                </a:lnTo>
                <a:lnTo>
                  <a:pt x="60704" y="47003"/>
                </a:lnTo>
                <a:lnTo>
                  <a:pt x="45956" y="34710"/>
                </a:lnTo>
                <a:lnTo>
                  <a:pt x="30916" y="22773"/>
                </a:lnTo>
                <a:lnTo>
                  <a:pt x="15594" y="11201"/>
                </a:lnTo>
                <a:lnTo>
                  <a:pt x="0" y="0"/>
                </a:lnTo>
              </a:path>
            </a:pathLst>
          </a:custGeom>
          <a:noFill/>
          <a:ln w="2794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3468934" y="3618507"/>
            <a:ext cx="1122116" cy="1410693"/>
          </a:xfrm>
          <a:custGeom>
            <a:avLst/>
            <a:gdLst/>
            <a:ahLst/>
            <a:cxnLst/>
            <a:rect l="l" t="t" r="r" b="b"/>
            <a:pathLst>
              <a:path w="1122116" h="1410693">
                <a:moveTo>
                  <a:pt x="1122116" y="1410693"/>
                </a:moveTo>
                <a:lnTo>
                  <a:pt x="1121299" y="1362060"/>
                </a:lnTo>
                <a:lnTo>
                  <a:pt x="1118849" y="1313481"/>
                </a:lnTo>
                <a:lnTo>
                  <a:pt x="1114768" y="1265012"/>
                </a:lnTo>
                <a:lnTo>
                  <a:pt x="1109061" y="1216708"/>
                </a:lnTo>
                <a:lnTo>
                  <a:pt x="1101736" y="1168622"/>
                </a:lnTo>
                <a:lnTo>
                  <a:pt x="1092799" y="1120810"/>
                </a:lnTo>
                <a:lnTo>
                  <a:pt x="1082261" y="1073325"/>
                </a:lnTo>
                <a:lnTo>
                  <a:pt x="1070133" y="1026221"/>
                </a:lnTo>
                <a:lnTo>
                  <a:pt x="1056431" y="979551"/>
                </a:lnTo>
                <a:lnTo>
                  <a:pt x="1041168" y="933367"/>
                </a:lnTo>
                <a:lnTo>
                  <a:pt x="1024363" y="887722"/>
                </a:lnTo>
                <a:lnTo>
                  <a:pt x="1006034" y="842667"/>
                </a:lnTo>
                <a:lnTo>
                  <a:pt x="986201" y="798254"/>
                </a:lnTo>
                <a:lnTo>
                  <a:pt x="964888" y="754532"/>
                </a:lnTo>
                <a:lnTo>
                  <a:pt x="942119" y="711550"/>
                </a:lnTo>
                <a:lnTo>
                  <a:pt x="917918" y="669357"/>
                </a:lnTo>
                <a:lnTo>
                  <a:pt x="892314" y="628002"/>
                </a:lnTo>
                <a:lnTo>
                  <a:pt x="865335" y="587529"/>
                </a:lnTo>
                <a:lnTo>
                  <a:pt x="837012" y="547986"/>
                </a:lnTo>
                <a:lnTo>
                  <a:pt x="807376" y="509416"/>
                </a:lnTo>
                <a:lnTo>
                  <a:pt x="776462" y="471864"/>
                </a:lnTo>
                <a:lnTo>
                  <a:pt x="744303" y="435371"/>
                </a:lnTo>
                <a:lnTo>
                  <a:pt x="710937" y="399980"/>
                </a:lnTo>
                <a:lnTo>
                  <a:pt x="676401" y="365729"/>
                </a:lnTo>
                <a:lnTo>
                  <a:pt x="640734" y="332657"/>
                </a:lnTo>
                <a:lnTo>
                  <a:pt x="603976" y="300802"/>
                </a:lnTo>
                <a:lnTo>
                  <a:pt x="566168" y="270200"/>
                </a:lnTo>
                <a:lnTo>
                  <a:pt x="527354" y="240885"/>
                </a:lnTo>
                <a:lnTo>
                  <a:pt x="487578" y="212891"/>
                </a:lnTo>
                <a:lnTo>
                  <a:pt x="446883" y="186248"/>
                </a:lnTo>
                <a:lnTo>
                  <a:pt x="405316" y="160988"/>
                </a:lnTo>
                <a:lnTo>
                  <a:pt x="362925" y="137138"/>
                </a:lnTo>
                <a:lnTo>
                  <a:pt x="319756" y="114725"/>
                </a:lnTo>
                <a:lnTo>
                  <a:pt x="275858" y="93776"/>
                </a:lnTo>
                <a:lnTo>
                  <a:pt x="231282" y="74312"/>
                </a:lnTo>
                <a:lnTo>
                  <a:pt x="186077" y="56357"/>
                </a:lnTo>
                <a:lnTo>
                  <a:pt x="140294" y="39931"/>
                </a:lnTo>
                <a:lnTo>
                  <a:pt x="93986" y="25052"/>
                </a:lnTo>
                <a:lnTo>
                  <a:pt x="47203" y="11736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9FB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38475" y="4924425"/>
            <a:ext cx="209550" cy="209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12169" y="2842901"/>
            <a:ext cx="190500" cy="1905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0055" y="2081680"/>
            <a:ext cx="228600" cy="228600"/>
          </a:xfrm>
          <a:prstGeom prst="ellipse">
            <a:avLst/>
          </a:prstGeom>
          <a:solidFill>
            <a:srgbClr val="D9534F"/>
          </a:solidFill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38575" y="46196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θ1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990975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θ1+θ2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7184" y="4031300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687" y="2405140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3D7BD9"/>
                </a:solidFill>
                <a:latin typeface="Times New Roman"/>
                <a:ea typeface="Times New Roman"/>
                <a:cs typeface="Times New Roman"/>
              </a:rPr>
              <a:t>a2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5880" y="2186455"/>
            <a:ext cx="2190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r = a1 + 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0155" y="1691155"/>
            <a:ext cx="1143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(x, 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5676900"/>
            <a:ext cx="495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 = L1·cos θ1 + L2·cos(θ1+θ2)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1R → 2R → 3R：一条通式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M3 · 第 3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16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2000250"/>
            <a:ext cx="3486150" cy="285750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09600" y="3943350"/>
            <a:ext cx="3028950" cy="0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43075" y="3068702"/>
            <a:ext cx="465059" cy="874648"/>
          </a:xfrm>
          <a:prstGeom prst="line">
            <a:avLst/>
          </a:prstGeom>
          <a:ln w="1016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676400" y="3876675"/>
            <a:ext cx="133350" cy="1333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31934" y="2992502"/>
            <a:ext cx="152400" cy="15240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133850"/>
            <a:ext cx="30289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x = L·cos 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675" y="22002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1R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5300" y="1600200"/>
            <a:ext cx="3486150" cy="325755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533900" y="3943350"/>
            <a:ext cx="3028950" cy="0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7375" y="3068702"/>
            <a:ext cx="465059" cy="874648"/>
          </a:xfrm>
          <a:prstGeom prst="line">
            <a:avLst/>
          </a:prstGeom>
          <a:ln w="1016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600700" y="3876675"/>
            <a:ext cx="133350" cy="1333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6132434" y="2754707"/>
            <a:ext cx="777165" cy="313995"/>
          </a:xfrm>
          <a:prstGeom prst="line">
            <a:avLst/>
          </a:prstGeom>
          <a:ln w="762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65759" y="3002027"/>
            <a:ext cx="133350" cy="1333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33399" y="2678507"/>
            <a:ext cx="152400" cy="15240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3900" y="4133850"/>
            <a:ext cx="30289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x = L1·cos θ1</a:t>
            </a:r>
          </a:p>
          <a:p>
            <a:pPr algn="ctr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+ L2·cos(θ1+θ2)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1975" y="180022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2R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200150"/>
            <a:ext cx="3486150" cy="365760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458200" y="3943350"/>
            <a:ext cx="3028950" cy="0"/>
          </a:xfrm>
          <a:prstGeom prst="line">
            <a:avLst/>
          </a:prstGeom>
          <a:ln w="1524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591675" y="3068702"/>
            <a:ext cx="465059" cy="874648"/>
          </a:xfrm>
          <a:prstGeom prst="line">
            <a:avLst/>
          </a:prstGeom>
          <a:ln w="1016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9525000" y="3876675"/>
            <a:ext cx="133350" cy="1333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0056734" y="2754707"/>
            <a:ext cx="777165" cy="313995"/>
          </a:xfrm>
          <a:prstGeom prst="line">
            <a:avLst/>
          </a:prstGeom>
          <a:ln w="762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990059" y="3002027"/>
            <a:ext cx="133350" cy="1333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0833899" y="2754707"/>
            <a:ext cx="670352" cy="217810"/>
          </a:xfrm>
          <a:prstGeom prst="line">
            <a:avLst/>
          </a:prstGeom>
          <a:ln w="762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767224" y="2688032"/>
            <a:ext cx="133350" cy="1333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428051" y="2896317"/>
            <a:ext cx="152400" cy="15240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4133850"/>
            <a:ext cx="30289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x = L1·cos θ1 + L2·cos(θ1+θ2)</a:t>
            </a:r>
          </a:p>
          <a:p>
            <a:pPr algn="ctr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+ L3·cos(θ1+θ2+θ3)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6275" y="14001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3R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5200650"/>
            <a:ext cx="1143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x = Σ Li · cos(θ1 + … + θi)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这就是正运动学公式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M3 · 第 3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17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028700"/>
            <a:ext cx="5905500" cy="224790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57300"/>
            <a:ext cx="53721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x = L1·cos θ1 + L2·cos(θ1+θ2)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809750"/>
            <a:ext cx="53721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y = L1·sin θ1 + L2·sin(θ1+θ2)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7700" y="2381250"/>
            <a:ext cx="5372100" cy="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7700" y="2552700"/>
            <a:ext cx="53721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+ L3·cos(θ1+θ2+θ3)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500" y="10668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角度逐段累加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524750" y="2512724"/>
            <a:ext cx="524938" cy="840076"/>
          </a:xfrm>
          <a:prstGeom prst="line">
            <a:avLst/>
          </a:prstGeom>
          <a:ln w="1143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448550" y="3276600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8049688" y="1713111"/>
            <a:ext cx="27923" cy="799613"/>
          </a:xfrm>
          <a:prstGeom prst="line">
            <a:avLst/>
          </a:prstGeom>
          <a:ln w="889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973488" y="2436524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8077611" y="1112574"/>
            <a:ext cx="242633" cy="600537"/>
          </a:xfrm>
          <a:prstGeom prst="line">
            <a:avLst/>
          </a:prstGeom>
          <a:ln w="762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8001411" y="1636911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44044" y="1036374"/>
            <a:ext cx="152400" cy="15240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746839" y="2997383"/>
            <a:ext cx="197011" cy="355417"/>
          </a:xfrm>
          <a:custGeom>
            <a:avLst/>
            <a:gdLst/>
            <a:ahLst/>
            <a:cxnLst/>
            <a:rect l="l" t="t" r="r" b="b"/>
            <a:pathLst>
              <a:path w="197011" h="355417">
                <a:moveTo>
                  <a:pt x="197011" y="355417"/>
                </a:moveTo>
                <a:lnTo>
                  <a:pt x="196877" y="344812"/>
                </a:lnTo>
                <a:lnTo>
                  <a:pt x="196474" y="334213"/>
                </a:lnTo>
                <a:lnTo>
                  <a:pt x="195804" y="323629"/>
                </a:lnTo>
                <a:lnTo>
                  <a:pt x="194866" y="313064"/>
                </a:lnTo>
                <a:lnTo>
                  <a:pt x="193660" y="302527"/>
                </a:lnTo>
                <a:lnTo>
                  <a:pt x="192189" y="292024"/>
                </a:lnTo>
                <a:lnTo>
                  <a:pt x="190452" y="281561"/>
                </a:lnTo>
                <a:lnTo>
                  <a:pt x="188451" y="271145"/>
                </a:lnTo>
                <a:lnTo>
                  <a:pt x="186187" y="260784"/>
                </a:lnTo>
                <a:lnTo>
                  <a:pt x="183662" y="250483"/>
                </a:lnTo>
                <a:lnTo>
                  <a:pt x="180876" y="240249"/>
                </a:lnTo>
                <a:lnTo>
                  <a:pt x="177833" y="230089"/>
                </a:lnTo>
                <a:lnTo>
                  <a:pt x="174534" y="220009"/>
                </a:lnTo>
                <a:lnTo>
                  <a:pt x="170980" y="210016"/>
                </a:lnTo>
                <a:lnTo>
                  <a:pt x="167175" y="200116"/>
                </a:lnTo>
                <a:lnTo>
                  <a:pt x="163121" y="190316"/>
                </a:lnTo>
                <a:lnTo>
                  <a:pt x="158819" y="180621"/>
                </a:lnTo>
                <a:lnTo>
                  <a:pt x="154274" y="171038"/>
                </a:lnTo>
                <a:lnTo>
                  <a:pt x="149488" y="161574"/>
                </a:lnTo>
                <a:lnTo>
                  <a:pt x="144464" y="152233"/>
                </a:lnTo>
                <a:lnTo>
                  <a:pt x="139205" y="143023"/>
                </a:lnTo>
                <a:lnTo>
                  <a:pt x="133715" y="133948"/>
                </a:lnTo>
                <a:lnTo>
                  <a:pt x="127997" y="125016"/>
                </a:lnTo>
                <a:lnTo>
                  <a:pt x="122055" y="116231"/>
                </a:lnTo>
                <a:lnTo>
                  <a:pt x="115892" y="107599"/>
                </a:lnTo>
                <a:lnTo>
                  <a:pt x="109513" y="99126"/>
                </a:lnTo>
                <a:lnTo>
                  <a:pt x="102921" y="90817"/>
                </a:lnTo>
                <a:lnTo>
                  <a:pt x="96122" y="82678"/>
                </a:lnTo>
                <a:lnTo>
                  <a:pt x="89118" y="74713"/>
                </a:lnTo>
                <a:lnTo>
                  <a:pt x="81915" y="66928"/>
                </a:lnTo>
                <a:lnTo>
                  <a:pt x="74518" y="59327"/>
                </a:lnTo>
                <a:lnTo>
                  <a:pt x="66931" y="51917"/>
                </a:lnTo>
                <a:lnTo>
                  <a:pt x="59158" y="44700"/>
                </a:lnTo>
                <a:lnTo>
                  <a:pt x="51205" y="37683"/>
                </a:lnTo>
                <a:lnTo>
                  <a:pt x="43078" y="30869"/>
                </a:lnTo>
                <a:lnTo>
                  <a:pt x="34780" y="24263"/>
                </a:lnTo>
                <a:lnTo>
                  <a:pt x="26318" y="17869"/>
                </a:lnTo>
                <a:lnTo>
                  <a:pt x="17697" y="11691"/>
                </a:lnTo>
                <a:lnTo>
                  <a:pt x="8923" y="5734"/>
                </a:lnTo>
                <a:lnTo>
                  <a:pt x="0" y="0"/>
                </a:lnTo>
              </a:path>
            </a:pathLst>
          </a:custGeom>
          <a:noFill/>
          <a:ln w="203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548684" y="2667418"/>
            <a:ext cx="661866" cy="685382"/>
          </a:xfrm>
          <a:custGeom>
            <a:avLst/>
            <a:gdLst/>
            <a:ahLst/>
            <a:cxnLst/>
            <a:rect l="l" t="t" r="r" b="b"/>
            <a:pathLst>
              <a:path w="661866" h="685382">
                <a:moveTo>
                  <a:pt x="661866" y="685382"/>
                </a:moveTo>
                <a:lnTo>
                  <a:pt x="661361" y="659056"/>
                </a:lnTo>
                <a:lnTo>
                  <a:pt x="659845" y="632768"/>
                </a:lnTo>
                <a:lnTo>
                  <a:pt x="657321" y="606558"/>
                </a:lnTo>
                <a:lnTo>
                  <a:pt x="653793" y="580464"/>
                </a:lnTo>
                <a:lnTo>
                  <a:pt x="649266" y="554525"/>
                </a:lnTo>
                <a:lnTo>
                  <a:pt x="643746" y="528779"/>
                </a:lnTo>
                <a:lnTo>
                  <a:pt x="637243" y="503264"/>
                </a:lnTo>
                <a:lnTo>
                  <a:pt x="629764" y="478017"/>
                </a:lnTo>
                <a:lnTo>
                  <a:pt x="621322" y="453076"/>
                </a:lnTo>
                <a:lnTo>
                  <a:pt x="611929" y="428477"/>
                </a:lnTo>
                <a:lnTo>
                  <a:pt x="601598" y="404257"/>
                </a:lnTo>
                <a:lnTo>
                  <a:pt x="590345" y="380451"/>
                </a:lnTo>
                <a:lnTo>
                  <a:pt x="578187" y="357095"/>
                </a:lnTo>
                <a:lnTo>
                  <a:pt x="565141" y="334223"/>
                </a:lnTo>
                <a:lnTo>
                  <a:pt x="551226" y="311869"/>
                </a:lnTo>
                <a:lnTo>
                  <a:pt x="536464" y="290065"/>
                </a:lnTo>
                <a:lnTo>
                  <a:pt x="520876" y="268844"/>
                </a:lnTo>
                <a:lnTo>
                  <a:pt x="504484" y="248237"/>
                </a:lnTo>
                <a:lnTo>
                  <a:pt x="487313" y="228274"/>
                </a:lnTo>
                <a:lnTo>
                  <a:pt x="469389" y="208985"/>
                </a:lnTo>
                <a:lnTo>
                  <a:pt x="450738" y="190399"/>
                </a:lnTo>
                <a:lnTo>
                  <a:pt x="431387" y="172542"/>
                </a:lnTo>
                <a:lnTo>
                  <a:pt x="411364" y="155441"/>
                </a:lnTo>
                <a:lnTo>
                  <a:pt x="390700" y="139122"/>
                </a:lnTo>
                <a:lnTo>
                  <a:pt x="369425" y="123608"/>
                </a:lnTo>
                <a:lnTo>
                  <a:pt x="347569" y="108921"/>
                </a:lnTo>
                <a:lnTo>
                  <a:pt x="325167" y="95085"/>
                </a:lnTo>
                <a:lnTo>
                  <a:pt x="302249" y="82119"/>
                </a:lnTo>
                <a:lnTo>
                  <a:pt x="278851" y="70042"/>
                </a:lnTo>
                <a:lnTo>
                  <a:pt x="255006" y="58873"/>
                </a:lnTo>
                <a:lnTo>
                  <a:pt x="230750" y="48626"/>
                </a:lnTo>
                <a:lnTo>
                  <a:pt x="206119" y="39319"/>
                </a:lnTo>
                <a:lnTo>
                  <a:pt x="181148" y="30964"/>
                </a:lnTo>
                <a:lnTo>
                  <a:pt x="155875" y="23574"/>
                </a:lnTo>
                <a:lnTo>
                  <a:pt x="130337" y="17159"/>
                </a:lnTo>
                <a:lnTo>
                  <a:pt x="104572" y="11729"/>
                </a:lnTo>
                <a:lnTo>
                  <a:pt x="78617" y="7293"/>
                </a:lnTo>
                <a:lnTo>
                  <a:pt x="52511" y="3856"/>
                </a:lnTo>
                <a:lnTo>
                  <a:pt x="26293" y="1424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7881563" y="2469657"/>
            <a:ext cx="595687" cy="883143"/>
          </a:xfrm>
          <a:custGeom>
            <a:avLst/>
            <a:gdLst/>
            <a:ahLst/>
            <a:cxnLst/>
            <a:rect l="l" t="t" r="r" b="b"/>
            <a:pathLst>
              <a:path w="595687" h="883143">
                <a:moveTo>
                  <a:pt x="595687" y="883143"/>
                </a:moveTo>
                <a:lnTo>
                  <a:pt x="595268" y="854886"/>
                </a:lnTo>
                <a:lnTo>
                  <a:pt x="594010" y="826654"/>
                </a:lnTo>
                <a:lnTo>
                  <a:pt x="591916" y="798471"/>
                </a:lnTo>
                <a:lnTo>
                  <a:pt x="588987" y="770363"/>
                </a:lnTo>
                <a:lnTo>
                  <a:pt x="585225" y="742355"/>
                </a:lnTo>
                <a:lnTo>
                  <a:pt x="580633" y="714470"/>
                </a:lnTo>
                <a:lnTo>
                  <a:pt x="575217" y="686734"/>
                </a:lnTo>
                <a:lnTo>
                  <a:pt x="568980" y="659170"/>
                </a:lnTo>
                <a:lnTo>
                  <a:pt x="561928" y="631804"/>
                </a:lnTo>
                <a:lnTo>
                  <a:pt x="554067" y="604659"/>
                </a:lnTo>
                <a:lnTo>
                  <a:pt x="545405" y="577759"/>
                </a:lnTo>
                <a:lnTo>
                  <a:pt x="535948" y="551128"/>
                </a:lnTo>
                <a:lnTo>
                  <a:pt x="525706" y="524789"/>
                </a:lnTo>
                <a:lnTo>
                  <a:pt x="514686" y="498766"/>
                </a:lnTo>
                <a:lnTo>
                  <a:pt x="502899" y="473081"/>
                </a:lnTo>
                <a:lnTo>
                  <a:pt x="490356" y="447757"/>
                </a:lnTo>
                <a:lnTo>
                  <a:pt x="477067" y="422817"/>
                </a:lnTo>
                <a:lnTo>
                  <a:pt x="463044" y="398281"/>
                </a:lnTo>
                <a:lnTo>
                  <a:pt x="448299" y="374172"/>
                </a:lnTo>
                <a:lnTo>
                  <a:pt x="432845" y="350512"/>
                </a:lnTo>
                <a:lnTo>
                  <a:pt x="416697" y="327320"/>
                </a:lnTo>
                <a:lnTo>
                  <a:pt x="399867" y="304618"/>
                </a:lnTo>
                <a:lnTo>
                  <a:pt x="382371" y="282424"/>
                </a:lnTo>
                <a:lnTo>
                  <a:pt x="364225" y="260760"/>
                </a:lnTo>
                <a:lnTo>
                  <a:pt x="345444" y="239643"/>
                </a:lnTo>
                <a:lnTo>
                  <a:pt x="326044" y="219093"/>
                </a:lnTo>
                <a:lnTo>
                  <a:pt x="306044" y="199128"/>
                </a:lnTo>
                <a:lnTo>
                  <a:pt x="285460" y="179764"/>
                </a:lnTo>
                <a:lnTo>
                  <a:pt x="264311" y="161020"/>
                </a:lnTo>
                <a:lnTo>
                  <a:pt x="242615" y="142911"/>
                </a:lnTo>
                <a:lnTo>
                  <a:pt x="220391" y="125455"/>
                </a:lnTo>
                <a:lnTo>
                  <a:pt x="197659" y="108665"/>
                </a:lnTo>
                <a:lnTo>
                  <a:pt x="174439" y="92556"/>
                </a:lnTo>
                <a:lnTo>
                  <a:pt x="150752" y="77144"/>
                </a:lnTo>
                <a:lnTo>
                  <a:pt x="126617" y="62441"/>
                </a:lnTo>
                <a:lnTo>
                  <a:pt x="102057" y="48461"/>
                </a:lnTo>
                <a:lnTo>
                  <a:pt x="77094" y="35215"/>
                </a:lnTo>
                <a:lnTo>
                  <a:pt x="51748" y="22716"/>
                </a:lnTo>
                <a:lnTo>
                  <a:pt x="26042" y="10974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82050" y="290512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θ1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8750" y="2600325"/>
            <a:ext cx="1143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D7BD9"/>
                </a:solidFill>
                <a:latin typeface="Times New Roman"/>
                <a:ea typeface="Times New Roman"/>
                <a:cs typeface="Times New Roman"/>
              </a:rPr>
              <a:t>θ1+θ2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0225" y="2257425"/>
            <a:ext cx="1428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θ1+θ2+θ3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3543300"/>
            <a:ext cx="11430000" cy="43815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61950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θ1, θ2 = 0°, 0°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361950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(0.5200, 0.0000)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0" y="3619500"/>
            <a:ext cx="4000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两段伸直，最远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750" y="409575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θ1, θ2 = 0°, 90°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95750" y="409575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(0.3000, 0.2200)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0" y="4095750"/>
            <a:ext cx="4000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第二段向上折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4495800"/>
            <a:ext cx="11430000" cy="43815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750" y="457200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θ1, θ2 = 90°, 0°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457200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(0.0000, 0.5200)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0" y="4572000"/>
            <a:ext cx="4000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整体转过 90°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" y="504825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θ1, θ2 = 90°, −90°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95750" y="504825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(0.2200, 0.3000)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0" y="5048250"/>
            <a:ext cx="4000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折回，末端到 x = 0.22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1000" y="5448300"/>
            <a:ext cx="11430000" cy="43815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6750" y="552450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θ1, θ2 = 35°, 60°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95750" y="5524500"/>
            <a:ext cx="3048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(0.2266, 0.3912)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0000" y="5524500"/>
            <a:ext cx="4000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一般情形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723900"/>
            <a:ext cx="12192000" cy="0"/>
          </a:xfrm>
          <a:prstGeom prst="line">
            <a:avLst/>
          </a:prstGeom>
          <a:ln w="15240">
            <a:solidFill>
              <a:srgbClr val="1651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可达空间是一个圆环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M3 · 第 3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E95C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18 / 21</a:t>
            </a:r>
          </a:p>
        </p:txBody>
      </p:sp>
      <p:sp>
        <p:nvSpPr>
          <p:cNvPr id="8" name="Donut 7"/>
          <p:cNvSpPr/>
          <p:nvPr/>
        </p:nvSpPr>
        <p:spPr>
          <a:xfrm>
            <a:off x="628650" y="1162050"/>
            <a:ext cx="4305300" cy="4305300"/>
          </a:xfrm>
          <a:prstGeom prst="donut">
            <a:avLst>
              <a:gd name="adj" fmla="val 42307"/>
            </a:avLst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50123" y="2983523"/>
            <a:ext cx="662354" cy="662354"/>
          </a:xfrm>
          <a:prstGeom prst="ellipse">
            <a:avLst/>
          </a:prstGeom>
          <a:solidFill>
            <a:srgbClr val="0E3F8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8650" y="1162050"/>
            <a:ext cx="4305300" cy="4305300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781300" y="3314700"/>
            <a:ext cx="2152650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36632" y="2962275"/>
            <a:ext cx="8572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5648325"/>
            <a:ext cx="3619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外圈 L1 + L2 = 0.52 m</a:t>
            </a:r>
          </a:p>
        </p:txBody>
      </p:sp>
      <p:sp>
        <p:nvSpPr>
          <p:cNvPr id="14" name="Oval 13"/>
          <p:cNvSpPr/>
          <p:nvPr/>
        </p:nvSpPr>
        <p:spPr>
          <a:xfrm>
            <a:off x="2118946" y="2652346"/>
            <a:ext cx="1324708" cy="1324708"/>
          </a:xfrm>
          <a:prstGeom prst="ellipse">
            <a:avLst/>
          </a:prstGeom>
          <a:noFill/>
          <a:ln w="22860">
            <a:solidFill>
              <a:srgbClr val="9FBE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3323869" y="2462423"/>
            <a:ext cx="2183603" cy="472366"/>
          </a:xfrm>
          <a:prstGeom prst="line">
            <a:avLst/>
          </a:prstGeom>
          <a:ln w="15240">
            <a:solidFill>
              <a:srgbClr val="6E9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323869" y="3694611"/>
            <a:ext cx="2183603" cy="472366"/>
          </a:xfrm>
          <a:prstGeom prst="line">
            <a:avLst/>
          </a:prstGeom>
          <a:ln w="15240">
            <a:solidFill>
              <a:srgbClr val="6E9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onut 16"/>
          <p:cNvSpPr/>
          <p:nvPr/>
        </p:nvSpPr>
        <p:spPr>
          <a:xfrm>
            <a:off x="5238750" y="1828800"/>
            <a:ext cx="2971800" cy="2971800"/>
          </a:xfrm>
          <a:prstGeom prst="donut">
            <a:avLst>
              <a:gd name="adj" fmla="val 25000"/>
            </a:avLst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81700" y="2571750"/>
            <a:ext cx="1485900" cy="1485900"/>
          </a:xfrm>
          <a:prstGeom prst="ellipse">
            <a:avLst/>
          </a:prstGeom>
          <a:solidFill>
            <a:srgbClr val="0E3F8C"/>
          </a:solidFill>
          <a:ln w="3048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38750" y="1828800"/>
            <a:ext cx="2971800" cy="2971800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724650" y="3314700"/>
            <a:ext cx="742950" cy="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461760" y="3185160"/>
            <a:ext cx="160020" cy="342900"/>
          </a:xfrm>
          <a:prstGeom prst="line">
            <a:avLst/>
          </a:prstGeom>
          <a:ln w="533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621780" y="3185160"/>
            <a:ext cx="274320" cy="102870"/>
          </a:xfrm>
          <a:prstGeom prst="line">
            <a:avLst/>
          </a:prstGeom>
          <a:ln w="45719">
            <a:solidFill>
              <a:srgbClr val="CFE0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896100" y="3070860"/>
            <a:ext cx="102870" cy="21717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421755" y="3488055"/>
            <a:ext cx="80010" cy="800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7490" y="3150870"/>
            <a:ext cx="68580" cy="68580"/>
          </a:xfrm>
          <a:prstGeom prst="ellipse">
            <a:avLst/>
          </a:prstGeom>
          <a:solidFill>
            <a:srgbClr val="CFE0F5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67525" y="3259455"/>
            <a:ext cx="57150" cy="57150"/>
          </a:xfrm>
          <a:prstGeom prst="ellipse">
            <a:avLst/>
          </a:prstGeom>
          <a:solidFill>
            <a:srgbClr val="CF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964680" y="3036570"/>
            <a:ext cx="68580" cy="685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91300" y="3781425"/>
            <a:ext cx="1143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0.08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9150" y="4981575"/>
            <a:ext cx="4191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放大：只看 r ≤ 0.16 的范围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475" y="4410075"/>
            <a:ext cx="1047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够不到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600700" y="3638550"/>
            <a:ext cx="838200" cy="742950"/>
          </a:xfrm>
          <a:prstGeom prst="line">
            <a:avLst/>
          </a:prstGeom>
          <a:ln w="20320">
            <a:solidFill>
              <a:srgbClr val="D953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896350" y="1409700"/>
            <a:ext cx="291465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0.08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6350" y="2343150"/>
            <a:ext cx="29146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最小可达距离 / 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6350" y="2590800"/>
            <a:ext cx="29146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6E95C8"/>
                </a:solidFill>
                <a:latin typeface="Times New Roman"/>
                <a:ea typeface="Times New Roman"/>
                <a:cs typeface="Times New Roman"/>
              </a:rPr>
              <a:t>|L1 − L2|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96350" y="2990850"/>
            <a:ext cx="2914650" cy="0"/>
          </a:xfrm>
          <a:prstGeom prst="line">
            <a:avLst/>
          </a:prstGeom>
          <a:ln w="17780">
            <a:solidFill>
              <a:srgbClr val="1651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896350" y="3200400"/>
            <a:ext cx="291465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0.52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6350" y="4133850"/>
            <a:ext cx="29146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9FBEE6"/>
                </a:solidFill>
                <a:latin typeface="Microsoft YaHei"/>
                <a:ea typeface="Microsoft YaHei"/>
                <a:cs typeface="Microsoft YaHei"/>
              </a:rPr>
              <a:t>最大可达距离 /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6350" y="4381500"/>
            <a:ext cx="29146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6E95C8"/>
                </a:solidFill>
                <a:latin typeface="Times New Roman"/>
                <a:ea typeface="Times New Roman"/>
                <a:cs typeface="Times New Roman"/>
              </a:rPr>
              <a:t>L1 + L2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6350" y="4991100"/>
            <a:ext cx="29146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区间内任意一点都能到达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扫一遍 θ2，看末端怎么走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M3 · 第 3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19 / 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57400" y="5524500"/>
            <a:ext cx="9182100" cy="0"/>
          </a:xfrm>
          <a:prstGeom prst="line">
            <a:avLst/>
          </a:prstGeom>
          <a:ln w="20320">
            <a:solidFill>
              <a:srgbClr val="4A556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86000" y="1238250"/>
            <a:ext cx="0" cy="4514850"/>
          </a:xfrm>
          <a:prstGeom prst="line">
            <a:avLst/>
          </a:prstGeom>
          <a:ln w="20320">
            <a:solidFill>
              <a:srgbClr val="4A556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286000" y="5524500"/>
            <a:ext cx="0" cy="5715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952625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30625" y="5524500"/>
            <a:ext cx="0" cy="5715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97250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30°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75250" y="5524500"/>
            <a:ext cx="0" cy="5715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41875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60°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19875" y="5524500"/>
            <a:ext cx="0" cy="5715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86500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90°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64500" y="5524500"/>
            <a:ext cx="0" cy="5715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31125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120°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09125" y="5524500"/>
            <a:ext cx="0" cy="5715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75750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150°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953750" y="5524500"/>
            <a:ext cx="0" cy="5715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620375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180°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247900" y="5183188"/>
            <a:ext cx="38100" cy="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562100" y="5059362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47900" y="4329906"/>
            <a:ext cx="38100" cy="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562100" y="4206081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47900" y="3476625"/>
            <a:ext cx="38100" cy="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562100" y="3352800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47900" y="2623344"/>
            <a:ext cx="38100" cy="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562100" y="2499519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247900" y="1770062"/>
            <a:ext cx="38100" cy="0"/>
          </a:xfrm>
          <a:prstGeom prst="line">
            <a:avLst/>
          </a:prstGeom>
          <a:ln w="15240">
            <a:solidFill>
              <a:srgbClr val="8B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562100" y="1646237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Times New Roman"/>
                <a:ea typeface="Times New Roman"/>
                <a:cs typeface="Times New Roman"/>
              </a:rPr>
              <a:t>0.5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286000" y="1599406"/>
            <a:ext cx="8858250" cy="0"/>
          </a:xfrm>
          <a:prstGeom prst="line">
            <a:avLst/>
          </a:prstGeom>
          <a:ln w="17780">
            <a:solidFill>
              <a:srgbClr val="D9534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286000" y="5353844"/>
            <a:ext cx="8858250" cy="0"/>
          </a:xfrm>
          <a:prstGeom prst="line">
            <a:avLst/>
          </a:prstGeom>
          <a:ln w="17780">
            <a:solidFill>
              <a:srgbClr val="D9534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286000" y="1599406"/>
            <a:ext cx="8667750" cy="3754438"/>
          </a:xfrm>
          <a:custGeom>
            <a:avLst/>
            <a:gdLst/>
            <a:ahLst/>
            <a:cxnLst/>
            <a:rect l="l" t="t" r="r" b="b"/>
            <a:pathLst>
              <a:path w="8667750" h="3754438">
                <a:moveTo>
                  <a:pt x="0" y="0"/>
                </a:moveTo>
                <a:lnTo>
                  <a:pt x="96308" y="660"/>
                </a:lnTo>
                <a:lnTo>
                  <a:pt x="192617" y="2639"/>
                </a:lnTo>
                <a:lnTo>
                  <a:pt x="288925" y="5937"/>
                </a:lnTo>
                <a:lnTo>
                  <a:pt x="385233" y="10553"/>
                </a:lnTo>
                <a:lnTo>
                  <a:pt x="481542" y="16484"/>
                </a:lnTo>
                <a:lnTo>
                  <a:pt x="577850" y="23730"/>
                </a:lnTo>
                <a:lnTo>
                  <a:pt x="674158" y="32288"/>
                </a:lnTo>
                <a:lnTo>
                  <a:pt x="770467" y="42154"/>
                </a:lnTo>
                <a:lnTo>
                  <a:pt x="866775" y="53327"/>
                </a:lnTo>
                <a:lnTo>
                  <a:pt x="963083" y="65802"/>
                </a:lnTo>
                <a:lnTo>
                  <a:pt x="1059392" y="79574"/>
                </a:lnTo>
                <a:lnTo>
                  <a:pt x="1155700" y="94641"/>
                </a:lnTo>
                <a:lnTo>
                  <a:pt x="1252008" y="110996"/>
                </a:lnTo>
                <a:lnTo>
                  <a:pt x="1348317" y="128634"/>
                </a:lnTo>
                <a:lnTo>
                  <a:pt x="1444625" y="147549"/>
                </a:lnTo>
                <a:lnTo>
                  <a:pt x="1540933" y="167736"/>
                </a:lnTo>
                <a:lnTo>
                  <a:pt x="1637242" y="189188"/>
                </a:lnTo>
                <a:lnTo>
                  <a:pt x="1733550" y="211897"/>
                </a:lnTo>
                <a:lnTo>
                  <a:pt x="1829858" y="235855"/>
                </a:lnTo>
                <a:lnTo>
                  <a:pt x="1926167" y="261056"/>
                </a:lnTo>
                <a:lnTo>
                  <a:pt x="2022475" y="287491"/>
                </a:lnTo>
                <a:lnTo>
                  <a:pt x="2118783" y="315150"/>
                </a:lnTo>
                <a:lnTo>
                  <a:pt x="2215092" y="344025"/>
                </a:lnTo>
                <a:lnTo>
                  <a:pt x="2311400" y="374107"/>
                </a:lnTo>
                <a:lnTo>
                  <a:pt x="2407708" y="405384"/>
                </a:lnTo>
                <a:lnTo>
                  <a:pt x="2504017" y="437846"/>
                </a:lnTo>
                <a:lnTo>
                  <a:pt x="2600325" y="471483"/>
                </a:lnTo>
                <a:lnTo>
                  <a:pt x="2696633" y="506283"/>
                </a:lnTo>
                <a:lnTo>
                  <a:pt x="2792942" y="542235"/>
                </a:lnTo>
                <a:lnTo>
                  <a:pt x="2889250" y="579325"/>
                </a:lnTo>
                <a:lnTo>
                  <a:pt x="2985558" y="617542"/>
                </a:lnTo>
                <a:lnTo>
                  <a:pt x="3081867" y="656873"/>
                </a:lnTo>
                <a:lnTo>
                  <a:pt x="3178175" y="697303"/>
                </a:lnTo>
                <a:lnTo>
                  <a:pt x="3274483" y="738819"/>
                </a:lnTo>
                <a:lnTo>
                  <a:pt x="3370792" y="781406"/>
                </a:lnTo>
                <a:lnTo>
                  <a:pt x="3467100" y="825049"/>
                </a:lnTo>
                <a:lnTo>
                  <a:pt x="3563408" y="869733"/>
                </a:lnTo>
                <a:lnTo>
                  <a:pt x="3659717" y="915443"/>
                </a:lnTo>
                <a:lnTo>
                  <a:pt x="3756025" y="962161"/>
                </a:lnTo>
                <a:lnTo>
                  <a:pt x="3852333" y="1009871"/>
                </a:lnTo>
                <a:lnTo>
                  <a:pt x="3948642" y="1058555"/>
                </a:lnTo>
                <a:lnTo>
                  <a:pt x="4044950" y="1108197"/>
                </a:lnTo>
                <a:lnTo>
                  <a:pt x="4141258" y="1158776"/>
                </a:lnTo>
                <a:lnTo>
                  <a:pt x="4237567" y="1210275"/>
                </a:lnTo>
                <a:lnTo>
                  <a:pt x="4333875" y="1262673"/>
                </a:lnTo>
                <a:lnTo>
                  <a:pt x="4430183" y="1315951"/>
                </a:lnTo>
                <a:lnTo>
                  <a:pt x="4526492" y="1370088"/>
                </a:lnTo>
                <a:lnTo>
                  <a:pt x="4622800" y="1425062"/>
                </a:lnTo>
                <a:lnTo>
                  <a:pt x="4719108" y="1480851"/>
                </a:lnTo>
                <a:lnTo>
                  <a:pt x="4815417" y="1537432"/>
                </a:lnTo>
                <a:lnTo>
                  <a:pt x="4911725" y="1594782"/>
                </a:lnTo>
                <a:lnTo>
                  <a:pt x="5008033" y="1652876"/>
                </a:lnTo>
                <a:lnTo>
                  <a:pt x="5104342" y="1711689"/>
                </a:lnTo>
                <a:lnTo>
                  <a:pt x="5200650" y="1771194"/>
                </a:lnTo>
                <a:lnTo>
                  <a:pt x="5296958" y="1831363"/>
                </a:lnTo>
                <a:lnTo>
                  <a:pt x="5393267" y="1892168"/>
                </a:lnTo>
                <a:lnTo>
                  <a:pt x="5489575" y="1953578"/>
                </a:lnTo>
                <a:lnTo>
                  <a:pt x="5585883" y="2015562"/>
                </a:lnTo>
                <a:lnTo>
                  <a:pt x="5682192" y="2078087"/>
                </a:lnTo>
                <a:lnTo>
                  <a:pt x="5778500" y="2141118"/>
                </a:lnTo>
                <a:lnTo>
                  <a:pt x="5874808" y="2204616"/>
                </a:lnTo>
                <a:lnTo>
                  <a:pt x="5971117" y="2268544"/>
                </a:lnTo>
                <a:lnTo>
                  <a:pt x="6067425" y="2332858"/>
                </a:lnTo>
                <a:lnTo>
                  <a:pt x="6163733" y="2397512"/>
                </a:lnTo>
                <a:lnTo>
                  <a:pt x="6260042" y="2462458"/>
                </a:lnTo>
                <a:lnTo>
                  <a:pt x="6356350" y="2527642"/>
                </a:lnTo>
                <a:lnTo>
                  <a:pt x="6452658" y="2593006"/>
                </a:lnTo>
                <a:lnTo>
                  <a:pt x="6548967" y="2658485"/>
                </a:lnTo>
                <a:lnTo>
                  <a:pt x="6645275" y="2724009"/>
                </a:lnTo>
                <a:lnTo>
                  <a:pt x="6741583" y="2789498"/>
                </a:lnTo>
                <a:lnTo>
                  <a:pt x="6837892" y="2854863"/>
                </a:lnTo>
                <a:lnTo>
                  <a:pt x="6934200" y="2920003"/>
                </a:lnTo>
                <a:lnTo>
                  <a:pt x="7030508" y="2984803"/>
                </a:lnTo>
                <a:lnTo>
                  <a:pt x="7126817" y="3049132"/>
                </a:lnTo>
                <a:lnTo>
                  <a:pt x="7223125" y="3112836"/>
                </a:lnTo>
                <a:lnTo>
                  <a:pt x="7319433" y="3175738"/>
                </a:lnTo>
                <a:lnTo>
                  <a:pt x="7415742" y="3237628"/>
                </a:lnTo>
                <a:lnTo>
                  <a:pt x="7512050" y="3298260"/>
                </a:lnTo>
                <a:lnTo>
                  <a:pt x="7608358" y="3357342"/>
                </a:lnTo>
                <a:lnTo>
                  <a:pt x="7704667" y="3414528"/>
                </a:lnTo>
                <a:lnTo>
                  <a:pt x="7800975" y="3469405"/>
                </a:lnTo>
                <a:lnTo>
                  <a:pt x="7897283" y="3521485"/>
                </a:lnTo>
                <a:lnTo>
                  <a:pt x="7993592" y="3570196"/>
                </a:lnTo>
                <a:lnTo>
                  <a:pt x="8089900" y="3614873"/>
                </a:lnTo>
                <a:lnTo>
                  <a:pt x="8186208" y="3654767"/>
                </a:lnTo>
                <a:lnTo>
                  <a:pt x="8282517" y="3689060"/>
                </a:lnTo>
                <a:lnTo>
                  <a:pt x="8378825" y="3716906"/>
                </a:lnTo>
                <a:lnTo>
                  <a:pt x="8475133" y="3737500"/>
                </a:lnTo>
                <a:lnTo>
                  <a:pt x="8571442" y="3750163"/>
                </a:lnTo>
                <a:lnTo>
                  <a:pt x="8667750" y="3754438"/>
                </a:lnTo>
              </a:path>
            </a:pathLst>
          </a:custGeom>
          <a:noFill/>
          <a:ln w="4572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209800" y="1523206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877550" y="5277644"/>
            <a:ext cx="152400" cy="15240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62200" y="1227931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0.52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0700" y="4829969"/>
            <a:ext cx="1333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D9534F"/>
                </a:solidFill>
                <a:latin typeface="Times New Roman"/>
                <a:ea typeface="Times New Roman"/>
                <a:cs typeface="Times New Roman"/>
              </a:rPr>
              <a:t>0.08 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06125" y="5648325"/>
            <a:ext cx="66675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θ2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4050" y="904875"/>
            <a:ext cx="1143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Times New Roman"/>
                <a:ea typeface="Times New Roman"/>
                <a:cs typeface="Times New Roman"/>
              </a:rPr>
              <a:t>r /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39000" y="1066800"/>
            <a:ext cx="4191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曲线与 θ1 无关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1000" y="0"/>
            <a:ext cx="8191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把公式填进积木块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0"/>
            <a:ext cx="32385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M3 · 第 3 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248400"/>
            <a:ext cx="762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B97A8"/>
                </a:solidFill>
                <a:latin typeface="Microsoft YaHei"/>
                <a:ea typeface="Microsoft YaHei"/>
                <a:cs typeface="Microsoft YaHei"/>
              </a:rPr>
              <a:t>机械臂运动学 · 前三讲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2484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E3F8C"/>
                </a:solidFill>
                <a:latin typeface="Times New Roman"/>
                <a:ea typeface="Times New Roman"/>
                <a:cs typeface="Times New Roman"/>
              </a:rPr>
              <a:t>20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028700"/>
            <a:ext cx="7048500" cy="4762500"/>
          </a:xfrm>
          <a:prstGeom prst="rect">
            <a:avLst/>
          </a:prstGeom>
          <a:solidFill>
            <a:srgbClr val="F4F8FD"/>
          </a:solidFill>
          <a:ln w="17780">
            <a:solidFill>
              <a:srgbClr val="E8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16764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A2230"/>
                </a:solidFill>
                <a:latin typeface="Consolas"/>
                <a:ea typeface="Consolas"/>
                <a:cs typeface="Consolas"/>
              </a:rPr>
              <a:t>def fk_2r(L1, L2, q1, q2):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2098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A2230"/>
                </a:solidFill>
                <a:latin typeface="Consolas"/>
                <a:ea typeface="Consolas"/>
                <a:cs typeface="Consolas"/>
              </a:rPr>
              <a:t>    x = L1 * ( ? )  +  L2 * ( ?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7432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A2230"/>
                </a:solidFill>
                <a:latin typeface="Consolas"/>
                <a:ea typeface="Consolas"/>
                <a:cs typeface="Consolas"/>
              </a:rPr>
              <a:t>    y = L1 * ( ? )  +  L2 * ( ?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32766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8B97A8"/>
                </a:solidFill>
                <a:latin typeface="Consolas"/>
                <a:ea typeface="Consolas"/>
                <a:cs typeface="Consolas"/>
              </a:rPr>
              <a:t>    return x, 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8425" y="2152650"/>
            <a:ext cx="247650" cy="342900"/>
          </a:xfrm>
          <a:prstGeom prst="rect">
            <a:avLst/>
          </a:prstGeom>
          <a:noFill/>
          <a:ln w="22860">
            <a:solidFill>
              <a:srgbClr val="D953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4375" y="2152650"/>
            <a:ext cx="247650" cy="342900"/>
          </a:xfrm>
          <a:prstGeom prst="rect">
            <a:avLst/>
          </a:prstGeom>
          <a:noFill/>
          <a:ln w="22860">
            <a:solidFill>
              <a:srgbClr val="D953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38425" y="2686050"/>
            <a:ext cx="247650" cy="342900"/>
          </a:xfrm>
          <a:prstGeom prst="rect">
            <a:avLst/>
          </a:prstGeom>
          <a:noFill/>
          <a:ln w="22860">
            <a:solidFill>
              <a:srgbClr val="D953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4375" y="2686050"/>
            <a:ext cx="247650" cy="342900"/>
          </a:xfrm>
          <a:prstGeom prst="rect">
            <a:avLst/>
          </a:prstGeom>
          <a:noFill/>
          <a:ln w="22860">
            <a:solidFill>
              <a:srgbClr val="D953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" y="4267200"/>
            <a:ext cx="6096000" cy="1524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4572000"/>
            <a:ext cx="609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4 个空 → 4 个三角函数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20000" y="1219200"/>
            <a:ext cx="0" cy="4381500"/>
          </a:xfrm>
          <a:prstGeom prst="line">
            <a:avLst/>
          </a:prstGeom>
          <a:ln w="17780">
            <a:solidFill>
              <a:srgbClr val="E8EF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563100" y="3188688"/>
            <a:ext cx="345135" cy="1288062"/>
          </a:xfrm>
          <a:prstGeom prst="line">
            <a:avLst/>
          </a:prstGeom>
          <a:ln w="114300">
            <a:solidFill>
              <a:srgbClr val="1E4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08235" y="2804274"/>
            <a:ext cx="1056168" cy="384414"/>
          </a:xfrm>
          <a:prstGeom prst="line">
            <a:avLst/>
          </a:prstGeom>
          <a:ln w="88900">
            <a:solidFill>
              <a:srgbClr val="3D7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9711015" y="3924723"/>
            <a:ext cx="423585" cy="552027"/>
          </a:xfrm>
          <a:custGeom>
            <a:avLst/>
            <a:gdLst/>
            <a:ahLst/>
            <a:cxnLst/>
            <a:rect l="l" t="t" r="r" b="b"/>
            <a:pathLst>
              <a:path w="423585" h="552027">
                <a:moveTo>
                  <a:pt x="423585" y="552027"/>
                </a:moveTo>
                <a:lnTo>
                  <a:pt x="423279" y="533328"/>
                </a:lnTo>
                <a:lnTo>
                  <a:pt x="422361" y="514649"/>
                </a:lnTo>
                <a:lnTo>
                  <a:pt x="420833" y="496010"/>
                </a:lnTo>
                <a:lnTo>
                  <a:pt x="418696" y="477431"/>
                </a:lnTo>
                <a:lnTo>
                  <a:pt x="415952" y="458932"/>
                </a:lnTo>
                <a:lnTo>
                  <a:pt x="412604" y="440533"/>
                </a:lnTo>
                <a:lnTo>
                  <a:pt x="408656" y="422253"/>
                </a:lnTo>
                <a:lnTo>
                  <a:pt x="404112" y="404112"/>
                </a:lnTo>
                <a:lnTo>
                  <a:pt x="398976" y="386129"/>
                </a:lnTo>
                <a:lnTo>
                  <a:pt x="393256" y="368324"/>
                </a:lnTo>
                <a:lnTo>
                  <a:pt x="386955" y="350716"/>
                </a:lnTo>
                <a:lnTo>
                  <a:pt x="380082" y="333323"/>
                </a:lnTo>
                <a:lnTo>
                  <a:pt x="372644" y="316165"/>
                </a:lnTo>
                <a:lnTo>
                  <a:pt x="364648" y="299259"/>
                </a:lnTo>
                <a:lnTo>
                  <a:pt x="356103" y="282624"/>
                </a:lnTo>
                <a:lnTo>
                  <a:pt x="347019" y="266277"/>
                </a:lnTo>
                <a:lnTo>
                  <a:pt x="337404" y="250236"/>
                </a:lnTo>
                <a:lnTo>
                  <a:pt x="327270" y="234519"/>
                </a:lnTo>
                <a:lnTo>
                  <a:pt x="316627" y="219141"/>
                </a:lnTo>
                <a:lnTo>
                  <a:pt x="305486" y="204120"/>
                </a:lnTo>
                <a:lnTo>
                  <a:pt x="293860" y="189471"/>
                </a:lnTo>
                <a:lnTo>
                  <a:pt x="281761" y="175211"/>
                </a:lnTo>
                <a:lnTo>
                  <a:pt x="269202" y="161354"/>
                </a:lnTo>
                <a:lnTo>
                  <a:pt x="256197" y="147915"/>
                </a:lnTo>
                <a:lnTo>
                  <a:pt x="242758" y="134910"/>
                </a:lnTo>
                <a:lnTo>
                  <a:pt x="228901" y="122351"/>
                </a:lnTo>
                <a:lnTo>
                  <a:pt x="214641" y="110252"/>
                </a:lnTo>
                <a:lnTo>
                  <a:pt x="199992" y="98626"/>
                </a:lnTo>
                <a:lnTo>
                  <a:pt x="184971" y="87485"/>
                </a:lnTo>
                <a:lnTo>
                  <a:pt x="169593" y="76842"/>
                </a:lnTo>
                <a:lnTo>
                  <a:pt x="153876" y="66708"/>
                </a:lnTo>
                <a:lnTo>
                  <a:pt x="137835" y="57093"/>
                </a:lnTo>
                <a:lnTo>
                  <a:pt x="121488" y="48009"/>
                </a:lnTo>
                <a:lnTo>
                  <a:pt x="104853" y="39464"/>
                </a:lnTo>
                <a:lnTo>
                  <a:pt x="87947" y="31468"/>
                </a:lnTo>
                <a:lnTo>
                  <a:pt x="70789" y="24030"/>
                </a:lnTo>
                <a:lnTo>
                  <a:pt x="53396" y="17157"/>
                </a:lnTo>
                <a:lnTo>
                  <a:pt x="35788" y="10856"/>
                </a:lnTo>
                <a:lnTo>
                  <a:pt x="17983" y="5136"/>
                </a:lnTo>
                <a:lnTo>
                  <a:pt x="0" y="0"/>
                </a:lnTo>
              </a:path>
            </a:pathLst>
          </a:custGeom>
          <a:noFill/>
          <a:ln w="2286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481744" y="3543309"/>
            <a:ext cx="1014806" cy="933441"/>
          </a:xfrm>
          <a:custGeom>
            <a:avLst/>
            <a:gdLst/>
            <a:ahLst/>
            <a:cxnLst/>
            <a:rect l="l" t="t" r="r" b="b"/>
            <a:pathLst>
              <a:path w="1014806" h="933441">
                <a:moveTo>
                  <a:pt x="1014806" y="933441"/>
                </a:moveTo>
                <a:lnTo>
                  <a:pt x="1014004" y="894759"/>
                </a:lnTo>
                <a:lnTo>
                  <a:pt x="1011600" y="856144"/>
                </a:lnTo>
                <a:lnTo>
                  <a:pt x="1007598" y="817661"/>
                </a:lnTo>
                <a:lnTo>
                  <a:pt x="1002004" y="779377"/>
                </a:lnTo>
                <a:lnTo>
                  <a:pt x="994829" y="741358"/>
                </a:lnTo>
                <a:lnTo>
                  <a:pt x="986085" y="703669"/>
                </a:lnTo>
                <a:lnTo>
                  <a:pt x="975786" y="666375"/>
                </a:lnTo>
                <a:lnTo>
                  <a:pt x="963950" y="629539"/>
                </a:lnTo>
                <a:lnTo>
                  <a:pt x="950599" y="593226"/>
                </a:lnTo>
                <a:lnTo>
                  <a:pt x="935754" y="557497"/>
                </a:lnTo>
                <a:lnTo>
                  <a:pt x="919441" y="522414"/>
                </a:lnTo>
                <a:lnTo>
                  <a:pt x="901688" y="488037"/>
                </a:lnTo>
                <a:lnTo>
                  <a:pt x="882526" y="454425"/>
                </a:lnTo>
                <a:lnTo>
                  <a:pt x="861987" y="421637"/>
                </a:lnTo>
                <a:lnTo>
                  <a:pt x="840108" y="389727"/>
                </a:lnTo>
                <a:lnTo>
                  <a:pt x="816925" y="358752"/>
                </a:lnTo>
                <a:lnTo>
                  <a:pt x="792478" y="328764"/>
                </a:lnTo>
                <a:lnTo>
                  <a:pt x="766809" y="299814"/>
                </a:lnTo>
                <a:lnTo>
                  <a:pt x="739963" y="271954"/>
                </a:lnTo>
                <a:lnTo>
                  <a:pt x="711986" y="245229"/>
                </a:lnTo>
                <a:lnTo>
                  <a:pt x="682925" y="219688"/>
                </a:lnTo>
                <a:lnTo>
                  <a:pt x="652830" y="195372"/>
                </a:lnTo>
                <a:lnTo>
                  <a:pt x="621754" y="172324"/>
                </a:lnTo>
                <a:lnTo>
                  <a:pt x="589749" y="150584"/>
                </a:lnTo>
                <a:lnTo>
                  <a:pt x="556871" y="130189"/>
                </a:lnTo>
                <a:lnTo>
                  <a:pt x="523176" y="111174"/>
                </a:lnTo>
                <a:lnTo>
                  <a:pt x="488722" y="93571"/>
                </a:lnTo>
                <a:lnTo>
                  <a:pt x="453568" y="77411"/>
                </a:lnTo>
                <a:lnTo>
                  <a:pt x="417775" y="62722"/>
                </a:lnTo>
                <a:lnTo>
                  <a:pt x="381404" y="49529"/>
                </a:lnTo>
                <a:lnTo>
                  <a:pt x="344517" y="37854"/>
                </a:lnTo>
                <a:lnTo>
                  <a:pt x="307178" y="27718"/>
                </a:lnTo>
                <a:lnTo>
                  <a:pt x="269451" y="19138"/>
                </a:lnTo>
                <a:lnTo>
                  <a:pt x="231401" y="12129"/>
                </a:lnTo>
                <a:lnTo>
                  <a:pt x="193093" y="6703"/>
                </a:lnTo>
                <a:lnTo>
                  <a:pt x="154594" y="2869"/>
                </a:lnTo>
                <a:lnTo>
                  <a:pt x="115968" y="633"/>
                </a:lnTo>
                <a:lnTo>
                  <a:pt x="77283" y="0"/>
                </a:lnTo>
                <a:lnTo>
                  <a:pt x="38605" y="970"/>
                </a:lnTo>
                <a:lnTo>
                  <a:pt x="0" y="3543"/>
                </a:lnTo>
              </a:path>
            </a:pathLst>
          </a:custGeom>
          <a:noFill/>
          <a:ln w="2032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7375" y="4391025"/>
            <a:ext cx="171450" cy="17145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32035" y="3112488"/>
            <a:ext cx="152400" cy="152400"/>
          </a:xfrm>
          <a:prstGeom prst="ellipse">
            <a:avLst/>
          </a:prstGeom>
          <a:solidFill>
            <a:srgbClr val="1E4FA8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8203" y="2728074"/>
            <a:ext cx="152400" cy="152400"/>
          </a:xfrm>
          <a:prstGeom prst="ellipse">
            <a:avLst/>
          </a:prstGeom>
          <a:solidFill>
            <a:srgbClr val="D9534F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82200" y="4143375"/>
            <a:ext cx="571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1E4FA8"/>
                </a:solidFill>
                <a:latin typeface="Times New Roman"/>
                <a:ea typeface="Times New Roman"/>
                <a:cs typeface="Times New Roman"/>
              </a:rPr>
              <a:t>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5550" y="3762375"/>
            <a:ext cx="11430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3D7BD9"/>
                </a:solidFill>
                <a:latin typeface="Times New Roman"/>
                <a:ea typeface="Times New Roman"/>
                <a:cs typeface="Times New Roman"/>
              </a:rPr>
              <a:t>q1+q2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4350" y="2295525"/>
            <a:ext cx="28575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q1, q2 从哪量？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下一站：逆运动学</a:t>
            </a:r>
          </a:p>
        </p:txBody>
      </p:sp>
      <p:sp>
        <p:nvSpPr>
          <p:cNvPr id="4" name="Rectangle 3"/>
          <p:cNvSpPr/>
          <p:nvPr/>
        </p:nvSpPr>
        <p:spPr>
          <a:xfrm>
            <a:off x="5695950" y="1733550"/>
            <a:ext cx="8001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05000" y="2209800"/>
            <a:ext cx="8382000" cy="876300"/>
          </a:xfrm>
          <a:prstGeom prst="roundRect">
            <a:avLst>
              <a:gd name="adj" fmla="val 12000"/>
            </a:avLst>
          </a:prstGeom>
          <a:noFill/>
          <a:ln w="17780">
            <a:solidFill>
              <a:srgbClr val="1651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71700" y="2209800"/>
            <a:ext cx="1143000" cy="876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1R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3300" y="2209800"/>
            <a:ext cx="6477000" cy="876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 = L · cos 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000" y="3257550"/>
            <a:ext cx="8382000" cy="876300"/>
          </a:xfrm>
          <a:prstGeom prst="roundRect">
            <a:avLst>
              <a:gd name="adj" fmla="val 12000"/>
            </a:avLst>
          </a:prstGeom>
          <a:noFill/>
          <a:ln w="17780">
            <a:solidFill>
              <a:srgbClr val="1651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1700" y="3257550"/>
            <a:ext cx="1143000" cy="876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2R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3257550"/>
            <a:ext cx="6477000" cy="876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 = L1·cos θ1 + L2·cos(θ1+θ2)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05000" y="4305300"/>
            <a:ext cx="8382000" cy="876300"/>
          </a:xfrm>
          <a:prstGeom prst="roundRect">
            <a:avLst>
              <a:gd name="adj" fmla="val 12000"/>
            </a:avLst>
          </a:prstGeom>
          <a:noFill/>
          <a:ln w="17780">
            <a:solidFill>
              <a:srgbClr val="1651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71700" y="4305300"/>
            <a:ext cx="1143000" cy="876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9FBEE6"/>
                </a:solidFill>
                <a:latin typeface="Times New Roman"/>
                <a:ea typeface="Times New Roman"/>
                <a:cs typeface="Times New Roman"/>
              </a:rPr>
              <a:t>nR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4305300"/>
            <a:ext cx="6477000" cy="876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 = Σ Li · cos(θ1 + … + θi)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39115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CFE0F5"/>
                </a:solidFill>
                <a:latin typeface="Microsoft YaHei"/>
                <a:ea typeface="Microsoft YaHei"/>
                <a:cs typeface="Microsoft YaHei"/>
              </a:rPr>
              <a:t>已知目标点 (x, y)，反解关节角 —— 会不会无解？会不会多解？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